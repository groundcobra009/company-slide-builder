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農業農村整備事業費（億円）</c:v>
                </c:pt>
              </c:strCache>
            </c:strRef>
          </c:tx>
          <c:spPr>
            <a:solidFill>
              <a:srgbClr val="AD0000"/>
            </a:solidFill>
            <a:effectLst/>
          </c:spPr>
          <c:invertIfNegative val="0"/>
          <c:dLbls>
            <c:numFmt formatCode="#,##0" sourceLinked="0"/>
            <c:txPr>
              <a:bodyPr/>
              <a:lstStyle/>
              <a:p>
                <a:pPr>
                  <a:defRPr b="0" i="0" strike="noStrike" sz="1200" u="none">
                    <a:solidFill>
                      <a:srgbClr val="1A1A1A"/>
                    </a:solidFill>
                    <a:latin typeface="Noto Sans JP"/>
                  </a:defRPr>
                </a:pPr>
              </a:p>
            </c:txPr>
            <c:showLegendKey val="0"/>
            <c:showVal val="1"/>
            <c:showCatName val="0"/>
            <c:showSerName val="0"/>
            <c:showPercent val="0"/>
            <c:showBubbleSize val="0"/>
            <c:showLeaderLines val="0"/>
          </c:dLbls>
          <c:cat>
            <c:multiLvlStrRef>
              <c:f>Sheet1!$A$2:$A$6</c:f>
              <c:multiLvlStrCache>
                <c:ptCount val="5"/>
                <c:lvl>
                  <c:pt idx="0">
                    <c:v>R4</c:v>
                  </c:pt>
                  <c:pt idx="1">
                    <c:v>R5</c:v>
                  </c:pt>
                  <c:pt idx="2">
                    <c:v>R6</c:v>
                  </c:pt>
                  <c:pt idx="3">
                    <c:v>R7</c:v>
                  </c:pt>
                  <c:pt idx="4">
                    <c:v>R8</c:v>
                  </c:pt>
                </c:lvl>
              </c:multiLvlStrCache>
            </c:multiLvlStrRef>
          </c:cat>
          <c:val>
            <c:numRef>
              <c:f>Sheet1!$B$2:$B$6</c:f>
              <c:numCache>
                <c:formatCode>General</c:formatCode>
                <c:ptCount val="5"/>
                <c:pt idx="0">
                  <c:v>3274</c:v>
                </c:pt>
                <c:pt idx="1">
                  <c:v>3291</c:v>
                </c:pt>
                <c:pt idx="2">
                  <c:v>3310</c:v>
                </c:pt>
                <c:pt idx="3">
                  <c:v>3331</c:v>
                </c:pt>
                <c:pt idx="4">
                  <c:v>3365</c:v>
                </c:pt>
              </c:numCache>
            </c:numRef>
          </c:val>
        </c:ser>
        <c:dLbls>
          <c:numFmt formatCode="#,##0" sourceLinked="0"/>
          <c:txPr>
            <a:bodyPr/>
            <a:lstStyle/>
            <a:p>
              <a:pPr>
                <a:defRPr b="0" i="0" strike="noStrike" sz="1200" u="none">
                  <a:solidFill>
                    <a:srgbClr val="1A1A1A"/>
                  </a:solidFill>
                  <a:latin typeface="Noto Sans JP"/>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200" b="0" i="0" u="none" strike="noStrike">
                <a:solidFill>
                  <a:srgbClr val="4A4A4A"/>
                </a:solidFill>
                <a:latin typeface="Noto Sans JP"/>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4A4A"/>
              </a:solidFill>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R7（億円）</c:v>
                </c:pt>
              </c:strCache>
            </c:strRef>
          </c:tx>
          <c:spPr>
            <a:solidFill>
              <a:srgbClr val="AD0000"/>
            </a:solidFill>
            <a:effectLst/>
          </c:spPr>
          <c:invertIfNegative val="0"/>
          <c:dLbls>
            <c:numFmt formatCode="#,##0" sourceLinked="0"/>
            <c:txPr>
              <a:bodyPr/>
              <a:lstStyle/>
              <a:p>
                <a:pPr>
                  <a:defRPr b="0" i="0" strike="noStrike" sz="1200" u="none">
                    <a:solidFill>
                      <a:srgbClr val="1A1A1A"/>
                    </a:solidFill>
                    <a:latin typeface="Noto Sans JP"/>
                  </a:defRPr>
                </a:pPr>
              </a:p>
            </c:txPr>
            <c:showLegendKey val="0"/>
            <c:showVal val="1"/>
            <c:showCatName val="0"/>
            <c:showSerName val="0"/>
            <c:showPercent val="0"/>
            <c:showBubbleSize val="0"/>
            <c:showLeaderLines val="0"/>
          </c:dLbls>
          <c:cat>
            <c:multiLvlStrRef>
              <c:f>Sheet1!$A$2:$A$5</c:f>
              <c:multiLvlStrCache>
                <c:ptCount val="4"/>
                <c:lvl>
                  <c:pt idx="0">
                    <c:v>農地大区画化
中山間排水</c:v>
                  </c:pt>
                  <c:pt idx="1">
                    <c:v>共同利用施設
再編集約</c:v>
                  </c:pt>
                  <c:pt idx="2">
                    <c:v>スマート農業
新品種開発</c:v>
                  </c:pt>
                  <c:pt idx="3">
                    <c:v>輸出産地育成</c:v>
                  </c:pt>
                </c:lvl>
              </c:multiLvlStrCache>
            </c:multiLvlStrRef>
          </c:cat>
          <c:val>
            <c:numRef>
              <c:f>Sheet1!$B$2:$B$5</c:f>
              <c:numCache>
                <c:formatCode>General</c:formatCode>
                <c:ptCount val="4"/>
                <c:pt idx="0">
                  <c:v>126</c:v>
                </c:pt>
                <c:pt idx="1">
                  <c:v>69</c:v>
                </c:pt>
                <c:pt idx="2">
                  <c:v>28</c:v>
                </c:pt>
                <c:pt idx="3">
                  <c:v>22</c:v>
                </c:pt>
              </c:numCache>
            </c:numRef>
          </c:val>
        </c:ser>
        <c:ser>
          <c:idx val="1"/>
          <c:order val="1"/>
          <c:tx>
            <c:strRef>
              <c:f>Sheet1!$C$1</c:f>
              <c:strCache>
                <c:ptCount val="1"/>
                <c:pt idx="0">
                  <c:v>R8（億円）</c:v>
                </c:pt>
              </c:strCache>
            </c:strRef>
          </c:tx>
          <c:spPr>
            <a:solidFill>
              <a:srgbClr val="580000"/>
            </a:solidFill>
            <a:effectLst/>
          </c:spPr>
          <c:invertIfNegative val="0"/>
          <c:dLbls>
            <c:numFmt formatCode="#,##0" sourceLinked="0"/>
            <c:txPr>
              <a:bodyPr/>
              <a:lstStyle/>
              <a:p>
                <a:pPr>
                  <a:defRPr b="0" i="0" strike="noStrike" sz="1200" u="none">
                    <a:solidFill>
                      <a:srgbClr val="1A1A1A"/>
                    </a:solidFill>
                    <a:latin typeface="Noto Sans JP"/>
                  </a:defRPr>
                </a:pPr>
              </a:p>
            </c:txPr>
            <c:showLegendKey val="0"/>
            <c:showVal val="1"/>
            <c:showCatName val="0"/>
            <c:showSerName val="0"/>
            <c:showPercent val="0"/>
            <c:showBubbleSize val="0"/>
            <c:showLeaderLines val="0"/>
          </c:dLbls>
          <c:cat>
            <c:multiLvlStrRef>
              <c:f>Sheet1!$A$2:$A$5</c:f>
              <c:multiLvlStrCache>
                <c:ptCount val="4"/>
                <c:lvl>
                  <c:pt idx="0">
                    <c:v>農地大区画化
中山間排水</c:v>
                  </c:pt>
                  <c:pt idx="1">
                    <c:v>共同利用施設
再編集約</c:v>
                  </c:pt>
                  <c:pt idx="2">
                    <c:v>スマート農業
新品種開発</c:v>
                  </c:pt>
                  <c:pt idx="3">
                    <c:v>輸出産地育成</c:v>
                  </c:pt>
                </c:lvl>
              </c:multiLvlStrCache>
            </c:multiLvlStrRef>
          </c:cat>
          <c:val>
            <c:numRef>
              <c:f>Sheet1!$C$2:$C$5</c:f>
              <c:numCache>
                <c:formatCode>General</c:formatCode>
                <c:ptCount val="4"/>
                <c:pt idx="0">
                  <c:v>166</c:v>
                </c:pt>
                <c:pt idx="1">
                  <c:v>238</c:v>
                </c:pt>
                <c:pt idx="2">
                  <c:v>54</c:v>
                </c:pt>
                <c:pt idx="3">
                  <c:v>37</c:v>
                </c:pt>
              </c:numCache>
            </c:numRef>
          </c:val>
        </c:ser>
        <c:dLbls>
          <c:numFmt formatCode="#,##0" sourceLinked="0"/>
          <c:txPr>
            <a:bodyPr/>
            <a:lstStyle/>
            <a:p>
              <a:pPr>
                <a:defRPr b="0" i="0" strike="noStrike" sz="1200" u="none">
                  <a:solidFill>
                    <a:srgbClr val="1A1A1A"/>
                  </a:solidFill>
                  <a:latin typeface="Noto Sans JP"/>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200" b="0" i="0" u="none" strike="noStrike">
                <a:solidFill>
                  <a:srgbClr val="4A4A4A"/>
                </a:solidFill>
                <a:latin typeface="Noto Sans JP"/>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4A4A"/>
              </a:solidFill>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AD0000"/>
          </a:solidFill>
          <a:ln/>
        </p:spPr>
      </p:sp>
      <p:sp>
        <p:nvSpPr>
          <p:cNvPr id="3" name="Shape 1"/>
          <p:cNvSpPr/>
          <p:nvPr/>
        </p:nvSpPr>
        <p:spPr>
          <a:xfrm>
            <a:off x="548640" y="1371600"/>
            <a:ext cx="2743200" cy="54864"/>
          </a:xfrm>
          <a:prstGeom prst="rect">
            <a:avLst/>
          </a:prstGeom>
          <a:solidFill>
            <a:srgbClr val="580000"/>
          </a:solidFill>
          <a:ln/>
        </p:spPr>
      </p:sp>
      <p:sp>
        <p:nvSpPr>
          <p:cNvPr id="4" name="Text 2"/>
          <p:cNvSpPr/>
          <p:nvPr/>
        </p:nvSpPr>
        <p:spPr>
          <a:xfrm>
            <a:off x="548640" y="1554480"/>
            <a:ext cx="8046720" cy="1371600"/>
          </a:xfrm>
          <a:prstGeom prst="rect">
            <a:avLst/>
          </a:prstGeom>
          <a:noFill/>
          <a:ln/>
        </p:spPr>
        <p:txBody>
          <a:bodyPr wrap="square" rtlCol="0" anchor="t"/>
          <a:lstStyle/>
          <a:p>
            <a:pPr indent="0" marL="0">
              <a:buNone/>
            </a:pPr>
            <a:r>
              <a:rPr lang="en-US" sz="4000" b="1" dirty="0">
                <a:solidFill>
                  <a:srgbClr val="FFFFFF"/>
                </a:solidFill>
                <a:latin typeface="Noto Sans JP" pitchFamily="34" charset="0"/>
                <a:ea typeface="Noto Sans JP" pitchFamily="34" charset="-122"/>
                <a:cs typeface="Noto Sans JP" pitchFamily="34" charset="-120"/>
              </a:rPr>
              <a:t>令和8年度</a:t>
            </a:r>
            <a:endParaRPr lang="en-US" sz="4000" dirty="0"/>
          </a:p>
          <a:p>
            <a:pPr indent="0" marL="0">
              <a:buNone/>
            </a:pPr>
            <a:r>
              <a:rPr lang="en-US" sz="4000" b="1" dirty="0">
                <a:solidFill>
                  <a:srgbClr val="FFFFFF"/>
                </a:solidFill>
                <a:latin typeface="Noto Sans JP" pitchFamily="34" charset="0"/>
                <a:ea typeface="Noto Sans JP" pitchFamily="34" charset="-122"/>
                <a:cs typeface="Noto Sans JP" pitchFamily="34" charset="-120"/>
              </a:rPr>
              <a:t>農業農村整備予算のポイント</a:t>
            </a:r>
            <a:endParaRPr lang="en-US" sz="4000" dirty="0"/>
          </a:p>
        </p:txBody>
      </p:sp>
      <p:sp>
        <p:nvSpPr>
          <p:cNvPr id="5" name="Text 3"/>
          <p:cNvSpPr/>
          <p:nvPr/>
        </p:nvSpPr>
        <p:spPr>
          <a:xfrm>
            <a:off x="548640" y="2926080"/>
            <a:ext cx="8046720" cy="548640"/>
          </a:xfrm>
          <a:prstGeom prst="rect">
            <a:avLst/>
          </a:prstGeom>
          <a:noFill/>
          <a:ln/>
        </p:spPr>
        <p:txBody>
          <a:bodyPr wrap="square" rtlCol="0" anchor="t"/>
          <a:lstStyle/>
          <a:p>
            <a:pPr indent="0" marL="0">
              <a:buNone/>
            </a:pPr>
            <a:r>
              <a:rPr lang="en-US" sz="2000" dirty="0">
                <a:solidFill>
                  <a:srgbClr val="580000"/>
                </a:solidFill>
                <a:latin typeface="Noto Sans JP" pitchFamily="34" charset="0"/>
                <a:ea typeface="Noto Sans JP" pitchFamily="34" charset="-122"/>
                <a:cs typeface="Noto Sans JP" pitchFamily="34" charset="-120"/>
              </a:rPr>
              <a:t>自治体職員向け 制度説明会資料</a:t>
            </a:r>
            <a:endParaRPr lang="en-US" sz="2000" dirty="0"/>
          </a:p>
        </p:txBody>
      </p:sp>
      <p:sp>
        <p:nvSpPr>
          <p:cNvPr id="6" name="Text 4"/>
          <p:cNvSpPr/>
          <p:nvPr/>
        </p:nvSpPr>
        <p:spPr>
          <a:xfrm>
            <a:off x="548640" y="4114800"/>
            <a:ext cx="8046720" cy="457200"/>
          </a:xfrm>
          <a:prstGeom prst="rect">
            <a:avLst/>
          </a:prstGeom>
          <a:noFill/>
          <a:ln/>
        </p:spPr>
        <p:txBody>
          <a:bodyPr wrap="square" rtlCol="0" anchor="b"/>
          <a:lstStyle/>
          <a:p>
            <a:pPr indent="0" marL="0">
              <a:buNone/>
            </a:pPr>
            <a:r>
              <a:rPr lang="en-US" sz="1600" dirty="0">
                <a:solidFill>
                  <a:srgbClr val="FFFFFF"/>
                </a:solidFill>
                <a:latin typeface="Noto Sans JP" pitchFamily="34" charset="0"/>
                <a:ea typeface="Noto Sans JP" pitchFamily="34" charset="-122"/>
                <a:cs typeface="Noto Sans JP" pitchFamily="34" charset="-120"/>
              </a:rPr>
              <a:t>農林水産省 農村振興局</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AD0000"/>
          </a:solidFill>
          <a:ln/>
        </p:spPr>
      </p:sp>
      <p:sp>
        <p:nvSpPr>
          <p:cNvPr id="3" name="Text 1"/>
          <p:cNvSpPr/>
          <p:nvPr/>
        </p:nvSpPr>
        <p:spPr>
          <a:xfrm>
            <a:off x="548640" y="0"/>
            <a:ext cx="8046720" cy="731520"/>
          </a:xfrm>
          <a:prstGeom prst="rect">
            <a:avLst/>
          </a:prstGeom>
          <a:noFill/>
          <a:ln/>
        </p:spPr>
        <p:txBody>
          <a:bodyPr wrap="square" rtlCol="0" anchor="ctr"/>
          <a:lstStyle/>
          <a:p>
            <a:pPr indent="0" marL="0">
              <a:buNone/>
            </a:pPr>
            <a:r>
              <a:rPr lang="en-US" sz="2400" b="1" dirty="0">
                <a:solidFill>
                  <a:srgbClr val="FFFFFF"/>
                </a:solidFill>
                <a:latin typeface="Noto Sans JP" pitchFamily="34" charset="0"/>
                <a:ea typeface="Noto Sans JP" pitchFamily="34" charset="-122"/>
                <a:cs typeface="Noto Sans JP" pitchFamily="34" charset="-120"/>
              </a:rPr>
              <a:t>SUMMARY</a:t>
            </a:r>
            <a:endParaRPr lang="en-US" sz="2400" dirty="0"/>
          </a:p>
        </p:txBody>
      </p:sp>
      <p:sp>
        <p:nvSpPr>
          <p:cNvPr id="4" name="Shape 2"/>
          <p:cNvSpPr/>
          <p:nvPr/>
        </p:nvSpPr>
        <p:spPr>
          <a:xfrm>
            <a:off x="548640" y="1097280"/>
            <a:ext cx="8046720" cy="914400"/>
          </a:xfrm>
          <a:prstGeom prst="rect">
            <a:avLst>
              <a:gd name="adj" fmla="val 10000"/>
            </a:avLst>
          </a:prstGeom>
          <a:solidFill>
            <a:srgbClr val="AD0000"/>
          </a:solidFill>
          <a:ln/>
        </p:spPr>
      </p:sp>
      <p:sp>
        <p:nvSpPr>
          <p:cNvPr id="5" name="Text 3"/>
          <p:cNvSpPr/>
          <p:nvPr/>
        </p:nvSpPr>
        <p:spPr>
          <a:xfrm>
            <a:off x="731520" y="1097280"/>
            <a:ext cx="7680960" cy="914400"/>
          </a:xfrm>
          <a:prstGeom prst="rect">
            <a:avLst/>
          </a:prstGeom>
          <a:noFill/>
          <a:ln/>
        </p:spPr>
        <p:txBody>
          <a:bodyPr wrap="square"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構造転換集中対策の本格化と国土強靭化中期計画の始動が2大柱。自治体は制度変更への早期対応が必要。</a:t>
            </a:r>
            <a:endParaRPr lang="en-US" sz="2000" dirty="0"/>
          </a:p>
        </p:txBody>
      </p:sp>
      <p:sp>
        <p:nvSpPr>
          <p:cNvPr id="6" name="Shape 4"/>
          <p:cNvSpPr/>
          <p:nvPr/>
        </p:nvSpPr>
        <p:spPr>
          <a:xfrm>
            <a:off x="548640" y="2377440"/>
            <a:ext cx="457200" cy="457200"/>
          </a:xfrm>
          <a:prstGeom prst="rect">
            <a:avLst>
              <a:gd name="adj" fmla="val 10000"/>
            </a:avLst>
          </a:prstGeom>
          <a:solidFill>
            <a:srgbClr val="580000"/>
          </a:solidFill>
          <a:ln/>
        </p:spPr>
      </p:sp>
      <p:sp>
        <p:nvSpPr>
          <p:cNvPr id="7" name="Text 5"/>
          <p:cNvSpPr/>
          <p:nvPr/>
        </p:nvSpPr>
        <p:spPr>
          <a:xfrm>
            <a:off x="548640" y="2377440"/>
            <a:ext cx="457200" cy="45720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1</a:t>
            </a:r>
            <a:endParaRPr lang="en-US" sz="1800" dirty="0"/>
          </a:p>
        </p:txBody>
      </p:sp>
      <p:sp>
        <p:nvSpPr>
          <p:cNvPr id="8" name="Text 6"/>
          <p:cNvSpPr/>
          <p:nvPr/>
        </p:nvSpPr>
        <p:spPr>
          <a:xfrm>
            <a:off x="1188720" y="2377440"/>
            <a:ext cx="7406640" cy="457200"/>
          </a:xfrm>
          <a:prstGeom prst="rect">
            <a:avLst/>
          </a:prstGeom>
          <a:noFill/>
          <a:ln/>
        </p:spPr>
        <p:txBody>
          <a:bodyPr wrap="square" rtlCol="0" anchor="ctr"/>
          <a:lstStyle/>
          <a:p>
            <a:pPr indent="0" marL="0">
              <a:buNone/>
            </a:pPr>
            <a:r>
              <a:rPr lang="en-US" sz="1600" dirty="0">
                <a:solidFill>
                  <a:srgbClr val="1A1A1A"/>
                </a:solidFill>
                <a:latin typeface="Noto Sans JP" pitchFamily="34" charset="0"/>
                <a:ea typeface="Noto Sans JP" pitchFamily="34" charset="-122"/>
                <a:cs typeface="Noto Sans JP" pitchFamily="34" charset="-120"/>
              </a:rPr>
              <a:t>農業農村整備事業費 3,365億円（前年度比+34億円）、構造転換集中対策は倍増の494億円</a:t>
            </a:r>
            <a:endParaRPr lang="en-US" sz="1600" dirty="0"/>
          </a:p>
        </p:txBody>
      </p:sp>
      <p:sp>
        <p:nvSpPr>
          <p:cNvPr id="9" name="Shape 7"/>
          <p:cNvSpPr/>
          <p:nvPr/>
        </p:nvSpPr>
        <p:spPr>
          <a:xfrm>
            <a:off x="548640" y="3017520"/>
            <a:ext cx="457200" cy="457200"/>
          </a:xfrm>
          <a:prstGeom prst="rect">
            <a:avLst>
              <a:gd name="adj" fmla="val 10000"/>
            </a:avLst>
          </a:prstGeom>
          <a:solidFill>
            <a:srgbClr val="580000"/>
          </a:solidFill>
          <a:ln/>
        </p:spPr>
      </p:sp>
      <p:sp>
        <p:nvSpPr>
          <p:cNvPr id="10" name="Text 8"/>
          <p:cNvSpPr/>
          <p:nvPr/>
        </p:nvSpPr>
        <p:spPr>
          <a:xfrm>
            <a:off x="548640" y="3017520"/>
            <a:ext cx="457200" cy="45720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2</a:t>
            </a:r>
            <a:endParaRPr lang="en-US" sz="1800" dirty="0"/>
          </a:p>
        </p:txBody>
      </p:sp>
      <p:sp>
        <p:nvSpPr>
          <p:cNvPr id="11" name="Text 9"/>
          <p:cNvSpPr/>
          <p:nvPr/>
        </p:nvSpPr>
        <p:spPr>
          <a:xfrm>
            <a:off x="1188720" y="3017520"/>
            <a:ext cx="7406640" cy="457200"/>
          </a:xfrm>
          <a:prstGeom prst="rect">
            <a:avLst/>
          </a:prstGeom>
          <a:noFill/>
          <a:ln/>
        </p:spPr>
        <p:txBody>
          <a:bodyPr wrap="square" rtlCol="0" anchor="ctr"/>
          <a:lstStyle/>
          <a:p>
            <a:pPr indent="0" marL="0">
              <a:buNone/>
            </a:pPr>
            <a:r>
              <a:rPr lang="en-US" sz="1600" dirty="0">
                <a:solidFill>
                  <a:srgbClr val="1A1A1A"/>
                </a:solidFill>
                <a:latin typeface="Noto Sans JP" pitchFamily="34" charset="0"/>
                <a:ea typeface="Noto Sans JP" pitchFamily="34" charset="-122"/>
                <a:cs typeface="Noto Sans JP" pitchFamily="34" charset="-120"/>
              </a:rPr>
              <a:t>第1次国土強靭化実施中期計画（R8〜R12）が始動、農業水利施設の更新・耐震化が加速</a:t>
            </a:r>
            <a:endParaRPr lang="en-US" sz="1600" dirty="0"/>
          </a:p>
        </p:txBody>
      </p:sp>
      <p:sp>
        <p:nvSpPr>
          <p:cNvPr id="12" name="Shape 10"/>
          <p:cNvSpPr/>
          <p:nvPr/>
        </p:nvSpPr>
        <p:spPr>
          <a:xfrm>
            <a:off x="548640" y="3657600"/>
            <a:ext cx="457200" cy="457200"/>
          </a:xfrm>
          <a:prstGeom prst="rect">
            <a:avLst>
              <a:gd name="adj" fmla="val 10000"/>
            </a:avLst>
          </a:prstGeom>
          <a:solidFill>
            <a:srgbClr val="580000"/>
          </a:solidFill>
          <a:ln/>
        </p:spPr>
      </p:sp>
      <p:sp>
        <p:nvSpPr>
          <p:cNvPr id="13" name="Text 11"/>
          <p:cNvSpPr/>
          <p:nvPr/>
        </p:nvSpPr>
        <p:spPr>
          <a:xfrm>
            <a:off x="548640" y="3657600"/>
            <a:ext cx="457200" cy="45720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3</a:t>
            </a:r>
            <a:endParaRPr lang="en-US" sz="1800" dirty="0"/>
          </a:p>
        </p:txBody>
      </p:sp>
      <p:sp>
        <p:nvSpPr>
          <p:cNvPr id="14" name="Text 12"/>
          <p:cNvSpPr/>
          <p:nvPr/>
        </p:nvSpPr>
        <p:spPr>
          <a:xfrm>
            <a:off x="1188720" y="3657600"/>
            <a:ext cx="7406640" cy="457200"/>
          </a:xfrm>
          <a:prstGeom prst="rect">
            <a:avLst/>
          </a:prstGeom>
          <a:noFill/>
          <a:ln/>
        </p:spPr>
        <p:txBody>
          <a:bodyPr wrap="square" rtlCol="0" anchor="ctr"/>
          <a:lstStyle/>
          <a:p>
            <a:pPr indent="0" marL="0">
              <a:buNone/>
            </a:pPr>
            <a:r>
              <a:rPr lang="en-US" sz="1600" dirty="0">
                <a:solidFill>
                  <a:srgbClr val="1A1A1A"/>
                </a:solidFill>
                <a:latin typeface="Noto Sans JP" pitchFamily="34" charset="0"/>
                <a:ea typeface="Noto Sans JP" pitchFamily="34" charset="-122"/>
                <a:cs typeface="Noto Sans JP" pitchFamily="34" charset="-120"/>
              </a:rPr>
              <a:t>飼料用米交付単価の段階的引下げ、令和9年度からの水田政策抜本見直しに備えた対応が急務</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AD0000"/>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580000"/>
                </a:solidFill>
                <a:latin typeface="Noto Sans JP" pitchFamily="34" charset="0"/>
                <a:ea typeface="Noto Sans JP" pitchFamily="34" charset="-122"/>
                <a:cs typeface="Noto Sans JP" pitchFamily="34" charset="-120"/>
              </a:rPr>
              <a:t>01</a:t>
            </a:r>
            <a:endParaRPr lang="en-US" sz="8000" dirty="0"/>
          </a:p>
        </p:txBody>
      </p:sp>
      <p:sp>
        <p:nvSpPr>
          <p:cNvPr id="4" name="Shape 2"/>
          <p:cNvSpPr/>
          <p:nvPr/>
        </p:nvSpPr>
        <p:spPr>
          <a:xfrm>
            <a:off x="548640" y="2651760"/>
            <a:ext cx="1828800" cy="54864"/>
          </a:xfrm>
          <a:prstGeom prst="rect">
            <a:avLst/>
          </a:prstGeom>
          <a:solidFill>
            <a:srgbClr val="5800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予算の全体像</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令和8年度 農林水産関係予算の全体像</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農林水産予算は3年連続増、農業農村整備も堅調に推移</a:t>
            </a:r>
            <a:endParaRPr lang="en-US" sz="1600" dirty="0"/>
          </a:p>
        </p:txBody>
      </p:sp>
      <p:sp>
        <p:nvSpPr>
          <p:cNvPr id="7" name="Shape 5"/>
          <p:cNvSpPr/>
          <p:nvPr/>
        </p:nvSpPr>
        <p:spPr>
          <a:xfrm>
            <a:off x="548640" y="1645920"/>
            <a:ext cx="2499360" cy="2560320"/>
          </a:xfrm>
          <a:prstGeom prst="rect">
            <a:avLst>
              <a:gd name="adj" fmla="val 3659"/>
            </a:avLst>
          </a:prstGeom>
          <a:solidFill>
            <a:srgbClr val="F5F5F5"/>
          </a:solidFill>
          <a:ln/>
        </p:spPr>
      </p:sp>
      <p:sp>
        <p:nvSpPr>
          <p:cNvPr id="8" name="Text 6"/>
          <p:cNvSpPr/>
          <p:nvPr/>
        </p:nvSpPr>
        <p:spPr>
          <a:xfrm>
            <a:off x="548640" y="1920240"/>
            <a:ext cx="2499360" cy="1097280"/>
          </a:xfrm>
          <a:prstGeom prst="rect">
            <a:avLst/>
          </a:prstGeom>
          <a:noFill/>
          <a:ln/>
        </p:spPr>
        <p:txBody>
          <a:bodyPr wrap="square" rtlCol="0" anchor="ctr"/>
          <a:lstStyle/>
          <a:p>
            <a:pPr algn="ctr" indent="0" marL="0">
              <a:buNone/>
            </a:pPr>
            <a:r>
              <a:rPr lang="en-US" sz="3200" b="1" dirty="0">
                <a:solidFill>
                  <a:srgbClr val="AD0000"/>
                </a:solidFill>
                <a:latin typeface="Noto Sans JP" pitchFamily="34" charset="0"/>
                <a:ea typeface="Noto Sans JP" pitchFamily="34" charset="-122"/>
                <a:cs typeface="Noto Sans JP" pitchFamily="34" charset="-120"/>
              </a:rPr>
              <a:t>2兆2,956億円</a:t>
            </a:r>
            <a:endParaRPr lang="en-US" sz="3200" dirty="0"/>
          </a:p>
        </p:txBody>
      </p:sp>
      <p:sp>
        <p:nvSpPr>
          <p:cNvPr id="9" name="Text 7"/>
          <p:cNvSpPr/>
          <p:nvPr/>
        </p:nvSpPr>
        <p:spPr>
          <a:xfrm>
            <a:off x="548640" y="3017520"/>
            <a:ext cx="2499360" cy="457200"/>
          </a:xfrm>
          <a:prstGeom prst="rect">
            <a:avLst/>
          </a:prstGeom>
          <a:noFill/>
          <a:ln/>
        </p:spPr>
        <p:txBody>
          <a:bodyPr wrap="square" rtlCol="0" anchor="ctr"/>
          <a:lstStyle/>
          <a:p>
            <a:pPr algn="ctr" indent="0" marL="0">
              <a:buNone/>
            </a:pPr>
            <a:r>
              <a:rPr lang="en-US" sz="1600" b="1" dirty="0">
                <a:solidFill>
                  <a:srgbClr val="1A1A1A"/>
                </a:solidFill>
                <a:latin typeface="Noto Sans JP" pitchFamily="34" charset="0"/>
                <a:ea typeface="Noto Sans JP" pitchFamily="34" charset="-122"/>
                <a:cs typeface="Noto Sans JP" pitchFamily="34" charset="-120"/>
              </a:rPr>
              <a:t>農林水産予算総額</a:t>
            </a:r>
            <a:endParaRPr lang="en-US" sz="1600" dirty="0"/>
          </a:p>
        </p:txBody>
      </p:sp>
      <p:sp>
        <p:nvSpPr>
          <p:cNvPr id="10" name="Text 8"/>
          <p:cNvSpPr/>
          <p:nvPr/>
        </p:nvSpPr>
        <p:spPr>
          <a:xfrm>
            <a:off x="640080" y="3474720"/>
            <a:ext cx="2316480" cy="548640"/>
          </a:xfrm>
          <a:prstGeom prst="rect">
            <a:avLst/>
          </a:prstGeom>
          <a:noFill/>
          <a:ln/>
        </p:spPr>
        <p:txBody>
          <a:bodyPr wrap="square" rtlCol="0" anchor="t"/>
          <a:lstStyle/>
          <a:p>
            <a:pPr algn="ctr" indent="0" marL="0">
              <a:buNone/>
            </a:pPr>
            <a:r>
              <a:rPr lang="en-US" sz="1600" dirty="0">
                <a:solidFill>
                  <a:srgbClr val="4A4A4A"/>
                </a:solidFill>
                <a:latin typeface="Noto Sans JP" pitchFamily="34" charset="0"/>
                <a:ea typeface="Noto Sans JP" pitchFamily="34" charset="-122"/>
                <a:cs typeface="Noto Sans JP" pitchFamily="34" charset="-120"/>
              </a:rPr>
              <a:t>前年度比+250億円（3年連続増）</a:t>
            </a:r>
            <a:endParaRPr lang="en-US" sz="1600" dirty="0"/>
          </a:p>
        </p:txBody>
      </p:sp>
      <p:sp>
        <p:nvSpPr>
          <p:cNvPr id="11" name="Shape 9"/>
          <p:cNvSpPr/>
          <p:nvPr/>
        </p:nvSpPr>
        <p:spPr>
          <a:xfrm>
            <a:off x="3322320" y="1645920"/>
            <a:ext cx="2499360" cy="2560320"/>
          </a:xfrm>
          <a:prstGeom prst="rect">
            <a:avLst>
              <a:gd name="adj" fmla="val 3659"/>
            </a:avLst>
          </a:prstGeom>
          <a:solidFill>
            <a:srgbClr val="F5F5F5"/>
          </a:solidFill>
          <a:ln/>
        </p:spPr>
      </p:sp>
      <p:sp>
        <p:nvSpPr>
          <p:cNvPr id="12" name="Text 10"/>
          <p:cNvSpPr/>
          <p:nvPr/>
        </p:nvSpPr>
        <p:spPr>
          <a:xfrm>
            <a:off x="3322320" y="1920240"/>
            <a:ext cx="2499360" cy="1097280"/>
          </a:xfrm>
          <a:prstGeom prst="rect">
            <a:avLst/>
          </a:prstGeom>
          <a:noFill/>
          <a:ln/>
        </p:spPr>
        <p:txBody>
          <a:bodyPr wrap="square" rtlCol="0" anchor="ctr"/>
          <a:lstStyle/>
          <a:p>
            <a:pPr algn="ctr" indent="0" marL="0">
              <a:buNone/>
            </a:pPr>
            <a:r>
              <a:rPr lang="en-US" sz="3200" b="1" dirty="0">
                <a:solidFill>
                  <a:srgbClr val="AD0000"/>
                </a:solidFill>
                <a:latin typeface="Noto Sans JP" pitchFamily="34" charset="0"/>
                <a:ea typeface="Noto Sans JP" pitchFamily="34" charset="-122"/>
                <a:cs typeface="Noto Sans JP" pitchFamily="34" charset="-120"/>
              </a:rPr>
              <a:t>3,365億円</a:t>
            </a:r>
            <a:endParaRPr lang="en-US" sz="3200" dirty="0"/>
          </a:p>
        </p:txBody>
      </p:sp>
      <p:sp>
        <p:nvSpPr>
          <p:cNvPr id="13" name="Text 11"/>
          <p:cNvSpPr/>
          <p:nvPr/>
        </p:nvSpPr>
        <p:spPr>
          <a:xfrm>
            <a:off x="3322320" y="3017520"/>
            <a:ext cx="2499360" cy="457200"/>
          </a:xfrm>
          <a:prstGeom prst="rect">
            <a:avLst/>
          </a:prstGeom>
          <a:noFill/>
          <a:ln/>
        </p:spPr>
        <p:txBody>
          <a:bodyPr wrap="square" rtlCol="0" anchor="ctr"/>
          <a:lstStyle/>
          <a:p>
            <a:pPr algn="ctr" indent="0" marL="0">
              <a:buNone/>
            </a:pPr>
            <a:r>
              <a:rPr lang="en-US" sz="1600" b="1" dirty="0">
                <a:solidFill>
                  <a:srgbClr val="1A1A1A"/>
                </a:solidFill>
                <a:latin typeface="Noto Sans JP" pitchFamily="34" charset="0"/>
                <a:ea typeface="Noto Sans JP" pitchFamily="34" charset="-122"/>
                <a:cs typeface="Noto Sans JP" pitchFamily="34" charset="-120"/>
              </a:rPr>
              <a:t>農業農村整備事業</a:t>
            </a:r>
            <a:endParaRPr lang="en-US" sz="1600" dirty="0"/>
          </a:p>
        </p:txBody>
      </p:sp>
      <p:sp>
        <p:nvSpPr>
          <p:cNvPr id="14" name="Text 12"/>
          <p:cNvSpPr/>
          <p:nvPr/>
        </p:nvSpPr>
        <p:spPr>
          <a:xfrm>
            <a:off x="3413760" y="3474720"/>
            <a:ext cx="2316480" cy="548640"/>
          </a:xfrm>
          <a:prstGeom prst="rect">
            <a:avLst/>
          </a:prstGeom>
          <a:noFill/>
          <a:ln/>
        </p:spPr>
        <p:txBody>
          <a:bodyPr wrap="square" rtlCol="0" anchor="t"/>
          <a:lstStyle/>
          <a:p>
            <a:pPr algn="ctr" indent="0" marL="0">
              <a:buNone/>
            </a:pPr>
            <a:r>
              <a:rPr lang="en-US" sz="1600" dirty="0">
                <a:solidFill>
                  <a:srgbClr val="4A4A4A"/>
                </a:solidFill>
                <a:latin typeface="Noto Sans JP" pitchFamily="34" charset="0"/>
                <a:ea typeface="Noto Sans JP" pitchFamily="34" charset="-122"/>
                <a:cs typeface="Noto Sans JP" pitchFamily="34" charset="-120"/>
              </a:rPr>
              <a:t>前年度比+34億円（101%）</a:t>
            </a:r>
            <a:endParaRPr lang="en-US" sz="1600" dirty="0"/>
          </a:p>
        </p:txBody>
      </p:sp>
      <p:sp>
        <p:nvSpPr>
          <p:cNvPr id="15" name="Shape 13"/>
          <p:cNvSpPr/>
          <p:nvPr/>
        </p:nvSpPr>
        <p:spPr>
          <a:xfrm>
            <a:off x="6096000" y="1645920"/>
            <a:ext cx="2499360" cy="2560320"/>
          </a:xfrm>
          <a:prstGeom prst="rect">
            <a:avLst>
              <a:gd name="adj" fmla="val 3659"/>
            </a:avLst>
          </a:prstGeom>
          <a:solidFill>
            <a:srgbClr val="F5F5F5"/>
          </a:solidFill>
          <a:ln/>
        </p:spPr>
      </p:sp>
      <p:sp>
        <p:nvSpPr>
          <p:cNvPr id="16" name="Text 14"/>
          <p:cNvSpPr/>
          <p:nvPr/>
        </p:nvSpPr>
        <p:spPr>
          <a:xfrm>
            <a:off x="6096000" y="1920240"/>
            <a:ext cx="2499360" cy="1097280"/>
          </a:xfrm>
          <a:prstGeom prst="rect">
            <a:avLst/>
          </a:prstGeom>
          <a:noFill/>
          <a:ln/>
        </p:spPr>
        <p:txBody>
          <a:bodyPr wrap="square" rtlCol="0" anchor="ctr"/>
          <a:lstStyle/>
          <a:p>
            <a:pPr algn="ctr" indent="0" marL="0">
              <a:buNone/>
            </a:pPr>
            <a:r>
              <a:rPr lang="en-US" sz="3200" b="1" dirty="0">
                <a:solidFill>
                  <a:srgbClr val="AD0000"/>
                </a:solidFill>
                <a:latin typeface="Noto Sans JP" pitchFamily="34" charset="0"/>
                <a:ea typeface="Noto Sans JP" pitchFamily="34" charset="-122"/>
                <a:cs typeface="Noto Sans JP" pitchFamily="34" charset="-120"/>
              </a:rPr>
              <a:t>494億円</a:t>
            </a:r>
            <a:endParaRPr lang="en-US" sz="3200" dirty="0"/>
          </a:p>
        </p:txBody>
      </p:sp>
      <p:sp>
        <p:nvSpPr>
          <p:cNvPr id="17" name="Text 15"/>
          <p:cNvSpPr/>
          <p:nvPr/>
        </p:nvSpPr>
        <p:spPr>
          <a:xfrm>
            <a:off x="6096000" y="3017520"/>
            <a:ext cx="2499360" cy="457200"/>
          </a:xfrm>
          <a:prstGeom prst="rect">
            <a:avLst/>
          </a:prstGeom>
          <a:noFill/>
          <a:ln/>
        </p:spPr>
        <p:txBody>
          <a:bodyPr wrap="square" rtlCol="0" anchor="ctr"/>
          <a:lstStyle/>
          <a:p>
            <a:pPr algn="ctr" indent="0" marL="0">
              <a:buNone/>
            </a:pPr>
            <a:r>
              <a:rPr lang="en-US" sz="1600" b="1" dirty="0">
                <a:solidFill>
                  <a:srgbClr val="1A1A1A"/>
                </a:solidFill>
                <a:latin typeface="Noto Sans JP" pitchFamily="34" charset="0"/>
                <a:ea typeface="Noto Sans JP" pitchFamily="34" charset="-122"/>
                <a:cs typeface="Noto Sans JP" pitchFamily="34" charset="-120"/>
              </a:rPr>
              <a:t>構造転換集中対策</a:t>
            </a:r>
            <a:endParaRPr lang="en-US" sz="1600" dirty="0"/>
          </a:p>
        </p:txBody>
      </p:sp>
      <p:sp>
        <p:nvSpPr>
          <p:cNvPr id="18" name="Text 16"/>
          <p:cNvSpPr/>
          <p:nvPr/>
        </p:nvSpPr>
        <p:spPr>
          <a:xfrm>
            <a:off x="6187440" y="3474720"/>
            <a:ext cx="2316480" cy="548640"/>
          </a:xfrm>
          <a:prstGeom prst="rect">
            <a:avLst/>
          </a:prstGeom>
          <a:noFill/>
          <a:ln/>
        </p:spPr>
        <p:txBody>
          <a:bodyPr wrap="square" rtlCol="0" anchor="t"/>
          <a:lstStyle/>
          <a:p>
            <a:pPr algn="ctr" indent="0" marL="0">
              <a:buNone/>
            </a:pPr>
            <a:r>
              <a:rPr lang="en-US" sz="1600" dirty="0">
                <a:solidFill>
                  <a:srgbClr val="4A4A4A"/>
                </a:solidFill>
                <a:latin typeface="Noto Sans JP" pitchFamily="34" charset="0"/>
                <a:ea typeface="Noto Sans JP" pitchFamily="34" charset="-122"/>
                <a:cs typeface="Noto Sans JP" pitchFamily="34" charset="-120"/>
              </a:rPr>
              <a:t>前年度比 約2倍（244→494億円）</a:t>
            </a:r>
            <a:endParaRPr lang="en-US" sz="1600" dirty="0"/>
          </a:p>
        </p:txBody>
      </p:sp>
      <p:sp>
        <p:nvSpPr>
          <p:cNvPr id="19" name="Text 17"/>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令和8年度予算概算決定（R7.12.26閣議決定）</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農業農村整備事業費の推移</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5年連続で増額、着実な伸びを維持</a:t>
            </a:r>
            <a:endParaRPr lang="en-US" sz="1600" dirty="0"/>
          </a:p>
        </p:txBody>
      </p:sp>
      <p:graphicFrame>
        <p:nvGraphicFramePr>
          <p:cNvPr id="7" name="Chart 0" descr=""/>
          <p:cNvGraphicFramePr/>
          <p:nvPr/>
        </p:nvGraphicFramePr>
        <p:xfrm>
          <a:off x="548640" y="1463040"/>
          <a:ext cx="5303520" cy="3017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035040" y="1463040"/>
            <a:ext cx="2560320" cy="3017520"/>
          </a:xfrm>
          <a:prstGeom prst="rect">
            <a:avLst>
              <a:gd name="adj" fmla="val 3571"/>
            </a:avLst>
          </a:prstGeom>
          <a:solidFill>
            <a:srgbClr val="F5F5F5"/>
          </a:solidFill>
          <a:ln/>
        </p:spPr>
      </p:sp>
      <p:sp>
        <p:nvSpPr>
          <p:cNvPr id="9" name="Text 6"/>
          <p:cNvSpPr/>
          <p:nvPr/>
        </p:nvSpPr>
        <p:spPr>
          <a:xfrm>
            <a:off x="6217920" y="1645920"/>
            <a:ext cx="2194560" cy="36576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ポイント</a:t>
            </a:r>
            <a:endParaRPr lang="en-US" sz="1600" dirty="0"/>
          </a:p>
        </p:txBody>
      </p:sp>
      <p:sp>
        <p:nvSpPr>
          <p:cNvPr id="10" name="Text 7"/>
          <p:cNvSpPr/>
          <p:nvPr/>
        </p:nvSpPr>
        <p:spPr>
          <a:xfrm>
            <a:off x="6217920" y="2103120"/>
            <a:ext cx="2194560" cy="2194560"/>
          </a:xfrm>
          <a:prstGeom prst="rect">
            <a:avLst/>
          </a:prstGeom>
          <a:noFill/>
          <a:ln/>
        </p:spPr>
        <p:txBody>
          <a:bodyPr wrap="square" rtlCol="0" anchor="t"/>
          <a:lstStyle/>
          <a:p>
            <a:pPr indent="0" marL="0">
              <a:lnSpc>
                <a:spcPct val="140000"/>
              </a:lnSpc>
              <a:buNone/>
            </a:pPr>
            <a:r>
              <a:rPr lang="en-US" sz="1600" dirty="0">
                <a:solidFill>
                  <a:srgbClr val="4A4A4A"/>
                </a:solidFill>
                <a:latin typeface="Noto Sans JP" pitchFamily="34" charset="0"/>
                <a:ea typeface="Noto Sans JP" pitchFamily="34" charset="-122"/>
                <a:cs typeface="Noto Sans JP" pitchFamily="34" charset="-120"/>
              </a:rPr>
              <a:t>当初予算ベース。R7補正（2,037億円）を含めると実質4,464億円規模。R8も補正予算による上積みが期待される。</a:t>
            </a:r>
            <a:endParaRPr lang="en-US" sz="1600" dirty="0"/>
          </a:p>
        </p:txBody>
      </p:sp>
      <p:sp>
        <p:nvSpPr>
          <p:cNvPr id="11" name="Text 8"/>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各年度予算概算決定資料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AD0000"/>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580000"/>
                </a:solidFill>
                <a:latin typeface="Noto Sans JP" pitchFamily="34" charset="0"/>
                <a:ea typeface="Noto Sans JP" pitchFamily="34" charset="-122"/>
                <a:cs typeface="Noto Sans JP" pitchFamily="34" charset="-120"/>
              </a:rPr>
              <a:t>02</a:t>
            </a:r>
            <a:endParaRPr lang="en-US" sz="8000" dirty="0"/>
          </a:p>
        </p:txBody>
      </p:sp>
      <p:sp>
        <p:nvSpPr>
          <p:cNvPr id="4" name="Shape 2"/>
          <p:cNvSpPr/>
          <p:nvPr/>
        </p:nvSpPr>
        <p:spPr>
          <a:xfrm>
            <a:off x="548640" y="2651760"/>
            <a:ext cx="1828800" cy="54864"/>
          </a:xfrm>
          <a:prstGeom prst="rect">
            <a:avLst/>
          </a:prstGeom>
          <a:solidFill>
            <a:srgbClr val="5800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農業構造転換集中対策</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農業構造転換集中対策の位置づけ</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新基本法に基づく初動5年間（R7〜R11）の2年目、予算は倍増の494億円</a:t>
            </a:r>
            <a:endParaRPr lang="en-US" sz="1600" dirty="0"/>
          </a:p>
        </p:txBody>
      </p:sp>
      <p:sp>
        <p:nvSpPr>
          <p:cNvPr id="7" name="Text 5"/>
          <p:cNvSpPr/>
          <p:nvPr/>
        </p:nvSpPr>
        <p:spPr>
          <a:xfrm>
            <a:off x="548640" y="1463040"/>
            <a:ext cx="8046720" cy="3017520"/>
          </a:xfrm>
          <a:prstGeom prst="rect">
            <a:avLst/>
          </a:prstGeom>
          <a:noFill/>
          <a:ln/>
        </p:spPr>
        <p:txBody>
          <a:bodyPr wrap="square" rtlCol="0" anchor="t"/>
          <a:lstStyle/>
          <a:p>
            <a:pPr indent="0" marL="0">
              <a:lnSpc>
                <a:spcPct val="150000"/>
              </a:lnSpc>
              <a:buNone/>
            </a:pPr>
            <a:r>
              <a:rPr lang="en-US" sz="1600" dirty="0">
                <a:solidFill>
                  <a:srgbClr val="4A4A4A"/>
                </a:solidFill>
                <a:latin typeface="Noto Sans JP" pitchFamily="34" charset="0"/>
                <a:ea typeface="Noto Sans JP" pitchFamily="34" charset="-122"/>
                <a:cs typeface="Noto Sans JP" pitchFamily="34" charset="-120"/>
              </a:rPr>
              <a:t>令和6年に改正された食料・農業・農村基本法に基づき、「農業構造転換集中対策」を創設。初動5年間（令和7〜11年度）で農業の構造転換を集中的に推進する。令和8年度は2年目にあたり、予算を前年度244億円から494億円へ倍増。農地の大区画化、共同利用施設の再編、スマート農業技術の導入、輸出産地の育成の4分野に重点配分。</a:t>
            </a:r>
            <a:endParaRPr lang="en-US" sz="1600" dirty="0"/>
          </a:p>
        </p:txBody>
      </p:sp>
      <p:sp>
        <p:nvSpPr>
          <p:cNvPr id="8" name="Text 6"/>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令和8年度予算概算決定の概要</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構造転換集中対策 4分野の予算配分</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共同利用施設の再編集約が3.4倍の大幅増（69→238億円）</a:t>
            </a:r>
            <a:endParaRPr lang="en-US" sz="1600" dirty="0"/>
          </a:p>
        </p:txBody>
      </p:sp>
      <p:graphicFrame>
        <p:nvGraphicFramePr>
          <p:cNvPr id="7" name="Chart 0" descr=""/>
          <p:cNvGraphicFramePr/>
          <p:nvPr/>
        </p:nvGraphicFramePr>
        <p:xfrm>
          <a:off x="548640" y="1463040"/>
          <a:ext cx="5303520" cy="3017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035040" y="1463040"/>
            <a:ext cx="2560320" cy="3017520"/>
          </a:xfrm>
          <a:prstGeom prst="rect">
            <a:avLst>
              <a:gd name="adj" fmla="val 3571"/>
            </a:avLst>
          </a:prstGeom>
          <a:solidFill>
            <a:srgbClr val="F5F5F5"/>
          </a:solidFill>
          <a:ln/>
        </p:spPr>
      </p:sp>
      <p:sp>
        <p:nvSpPr>
          <p:cNvPr id="9" name="Text 6"/>
          <p:cNvSpPr/>
          <p:nvPr/>
        </p:nvSpPr>
        <p:spPr>
          <a:xfrm>
            <a:off x="6217920" y="1645920"/>
            <a:ext cx="2194560" cy="36576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注目点</a:t>
            </a:r>
            <a:endParaRPr lang="en-US" sz="1600" dirty="0"/>
          </a:p>
        </p:txBody>
      </p:sp>
      <p:sp>
        <p:nvSpPr>
          <p:cNvPr id="10" name="Text 7"/>
          <p:cNvSpPr/>
          <p:nvPr/>
        </p:nvSpPr>
        <p:spPr>
          <a:xfrm>
            <a:off x="6217920" y="2103120"/>
            <a:ext cx="2194560" cy="2194560"/>
          </a:xfrm>
          <a:prstGeom prst="rect">
            <a:avLst/>
          </a:prstGeom>
          <a:noFill/>
          <a:ln/>
        </p:spPr>
        <p:txBody>
          <a:bodyPr wrap="square" rtlCol="0" anchor="t"/>
          <a:lstStyle/>
          <a:p>
            <a:pPr indent="0" marL="0">
              <a:lnSpc>
                <a:spcPct val="140000"/>
              </a:lnSpc>
              <a:buNone/>
            </a:pPr>
            <a:r>
              <a:rPr lang="en-US" sz="1600" dirty="0">
                <a:solidFill>
                  <a:srgbClr val="4A4A4A"/>
                </a:solidFill>
                <a:latin typeface="Noto Sans JP" pitchFamily="34" charset="0"/>
                <a:ea typeface="Noto Sans JP" pitchFamily="34" charset="-122"/>
                <a:cs typeface="Noto Sans JP" pitchFamily="34" charset="-120"/>
              </a:rPr>
              <a:t>カントリーエレベーター等の老朽化施設の再編・集約化に重点。農地大区画化も32%増。</a:t>
            </a:r>
            <a:endParaRPr lang="en-US" sz="1600" dirty="0"/>
          </a:p>
        </p:txBody>
      </p:sp>
      <p:sp>
        <p:nvSpPr>
          <p:cNvPr id="11" name="Text 8"/>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JAcom農業協同組合新聞（R7.12.26）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構造転換集中対策 4分野の具体的施策</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4分野すべてで前年度を大幅に上回る予算を確保</a:t>
            </a:r>
            <a:endParaRPr lang="en-US" sz="1600" dirty="0"/>
          </a:p>
        </p:txBody>
      </p:sp>
      <p:sp>
        <p:nvSpPr>
          <p:cNvPr id="7" name="Shape 5"/>
          <p:cNvSpPr/>
          <p:nvPr/>
        </p:nvSpPr>
        <p:spPr>
          <a:xfrm>
            <a:off x="548640" y="1463040"/>
            <a:ext cx="457200" cy="548640"/>
          </a:xfrm>
          <a:prstGeom prst="rect">
            <a:avLst>
              <a:gd name="adj" fmla="val 10000"/>
            </a:avLst>
          </a:prstGeom>
          <a:solidFill>
            <a:srgbClr val="580000"/>
          </a:solidFill>
          <a:ln/>
        </p:spPr>
      </p:sp>
      <p:sp>
        <p:nvSpPr>
          <p:cNvPr id="8" name="Text 6"/>
          <p:cNvSpPr/>
          <p:nvPr/>
        </p:nvSpPr>
        <p:spPr>
          <a:xfrm>
            <a:off x="548640" y="14630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1</a:t>
            </a:r>
            <a:endParaRPr lang="en-US" sz="1800" dirty="0"/>
          </a:p>
        </p:txBody>
      </p:sp>
      <p:sp>
        <p:nvSpPr>
          <p:cNvPr id="9" name="Shape 7"/>
          <p:cNvSpPr/>
          <p:nvPr/>
        </p:nvSpPr>
        <p:spPr>
          <a:xfrm>
            <a:off x="1188720" y="1463040"/>
            <a:ext cx="7406640" cy="548640"/>
          </a:xfrm>
          <a:prstGeom prst="rect">
            <a:avLst>
              <a:gd name="adj" fmla="val 8333"/>
            </a:avLst>
          </a:prstGeom>
          <a:solidFill>
            <a:srgbClr val="F5F5F5"/>
          </a:solidFill>
          <a:ln/>
        </p:spPr>
      </p:sp>
      <p:sp>
        <p:nvSpPr>
          <p:cNvPr id="10" name="Text 8"/>
          <p:cNvSpPr/>
          <p:nvPr/>
        </p:nvSpPr>
        <p:spPr>
          <a:xfrm>
            <a:off x="1371600" y="14630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農地大区画化・中山間排水対策（166億円）</a:t>
            </a:r>
            <a:endParaRPr lang="en-US" sz="1600" dirty="0"/>
          </a:p>
        </p:txBody>
      </p:sp>
      <p:sp>
        <p:nvSpPr>
          <p:cNvPr id="11" name="Text 9"/>
          <p:cNvSpPr/>
          <p:nvPr/>
        </p:nvSpPr>
        <p:spPr>
          <a:xfrm>
            <a:off x="4114800" y="14630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ほ場整備の加速化、中山間地域の排水改善により生産性向上と農地集約を推進</a:t>
            </a:r>
            <a:endParaRPr lang="en-US" sz="1600" dirty="0"/>
          </a:p>
        </p:txBody>
      </p:sp>
      <p:sp>
        <p:nvSpPr>
          <p:cNvPr id="12" name="Shape 10"/>
          <p:cNvSpPr/>
          <p:nvPr/>
        </p:nvSpPr>
        <p:spPr>
          <a:xfrm>
            <a:off x="548640" y="2148840"/>
            <a:ext cx="457200" cy="548640"/>
          </a:xfrm>
          <a:prstGeom prst="rect">
            <a:avLst>
              <a:gd name="adj" fmla="val 10000"/>
            </a:avLst>
          </a:prstGeom>
          <a:solidFill>
            <a:srgbClr val="580000"/>
          </a:solidFill>
          <a:ln/>
        </p:spPr>
      </p:sp>
      <p:sp>
        <p:nvSpPr>
          <p:cNvPr id="13" name="Text 11"/>
          <p:cNvSpPr/>
          <p:nvPr/>
        </p:nvSpPr>
        <p:spPr>
          <a:xfrm>
            <a:off x="548640" y="21488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2</a:t>
            </a:r>
            <a:endParaRPr lang="en-US" sz="1800" dirty="0"/>
          </a:p>
        </p:txBody>
      </p:sp>
      <p:sp>
        <p:nvSpPr>
          <p:cNvPr id="14" name="Shape 12"/>
          <p:cNvSpPr/>
          <p:nvPr/>
        </p:nvSpPr>
        <p:spPr>
          <a:xfrm>
            <a:off x="1188720" y="2148840"/>
            <a:ext cx="7406640" cy="548640"/>
          </a:xfrm>
          <a:prstGeom prst="rect">
            <a:avLst>
              <a:gd name="adj" fmla="val 8333"/>
            </a:avLst>
          </a:prstGeom>
          <a:solidFill>
            <a:srgbClr val="F5F5F5"/>
          </a:solidFill>
          <a:ln/>
        </p:spPr>
      </p:sp>
      <p:sp>
        <p:nvSpPr>
          <p:cNvPr id="15" name="Text 13"/>
          <p:cNvSpPr/>
          <p:nvPr/>
        </p:nvSpPr>
        <p:spPr>
          <a:xfrm>
            <a:off x="1371600" y="21488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共同利用施設再編集約（238億円）</a:t>
            </a:r>
            <a:endParaRPr lang="en-US" sz="1600" dirty="0"/>
          </a:p>
        </p:txBody>
      </p:sp>
      <p:sp>
        <p:nvSpPr>
          <p:cNvPr id="16" name="Text 14"/>
          <p:cNvSpPr/>
          <p:nvPr/>
        </p:nvSpPr>
        <p:spPr>
          <a:xfrm>
            <a:off x="4114800" y="21488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カントリーエレベーター等の老朽化施設を再編・集約し、効率的な穀物乾燥・調製体制を構築</a:t>
            </a:r>
            <a:endParaRPr lang="en-US" sz="1600" dirty="0"/>
          </a:p>
        </p:txBody>
      </p:sp>
      <p:sp>
        <p:nvSpPr>
          <p:cNvPr id="17" name="Shape 15"/>
          <p:cNvSpPr/>
          <p:nvPr/>
        </p:nvSpPr>
        <p:spPr>
          <a:xfrm>
            <a:off x="548640" y="2834640"/>
            <a:ext cx="457200" cy="548640"/>
          </a:xfrm>
          <a:prstGeom prst="rect">
            <a:avLst>
              <a:gd name="adj" fmla="val 10000"/>
            </a:avLst>
          </a:prstGeom>
          <a:solidFill>
            <a:srgbClr val="580000"/>
          </a:solidFill>
          <a:ln/>
        </p:spPr>
      </p:sp>
      <p:sp>
        <p:nvSpPr>
          <p:cNvPr id="18" name="Text 16"/>
          <p:cNvSpPr/>
          <p:nvPr/>
        </p:nvSpPr>
        <p:spPr>
          <a:xfrm>
            <a:off x="548640" y="28346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3</a:t>
            </a:r>
            <a:endParaRPr lang="en-US" sz="1800" dirty="0"/>
          </a:p>
        </p:txBody>
      </p:sp>
      <p:sp>
        <p:nvSpPr>
          <p:cNvPr id="19" name="Shape 17"/>
          <p:cNvSpPr/>
          <p:nvPr/>
        </p:nvSpPr>
        <p:spPr>
          <a:xfrm>
            <a:off x="1188720" y="2834640"/>
            <a:ext cx="7406640" cy="548640"/>
          </a:xfrm>
          <a:prstGeom prst="rect">
            <a:avLst>
              <a:gd name="adj" fmla="val 8333"/>
            </a:avLst>
          </a:prstGeom>
          <a:solidFill>
            <a:srgbClr val="F5F5F5"/>
          </a:solidFill>
          <a:ln/>
        </p:spPr>
      </p:sp>
      <p:sp>
        <p:nvSpPr>
          <p:cNvPr id="20" name="Text 18"/>
          <p:cNvSpPr/>
          <p:nvPr/>
        </p:nvSpPr>
        <p:spPr>
          <a:xfrm>
            <a:off x="1371600" y="28346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スマート農業技術・新品種開発（54億円）</a:t>
            </a:r>
            <a:endParaRPr lang="en-US" sz="1600" dirty="0"/>
          </a:p>
        </p:txBody>
      </p:sp>
      <p:sp>
        <p:nvSpPr>
          <p:cNvPr id="21" name="Text 19"/>
          <p:cNvSpPr/>
          <p:nvPr/>
        </p:nvSpPr>
        <p:spPr>
          <a:xfrm>
            <a:off x="4114800" y="28346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自動走行農機、ドローン等の導入支援。生産性向上に資する革新的新品種の開発を推進</a:t>
            </a:r>
            <a:endParaRPr lang="en-US" sz="1600" dirty="0"/>
          </a:p>
        </p:txBody>
      </p:sp>
      <p:sp>
        <p:nvSpPr>
          <p:cNvPr id="22" name="Shape 20"/>
          <p:cNvSpPr/>
          <p:nvPr/>
        </p:nvSpPr>
        <p:spPr>
          <a:xfrm>
            <a:off x="548640" y="3520440"/>
            <a:ext cx="457200" cy="548640"/>
          </a:xfrm>
          <a:prstGeom prst="rect">
            <a:avLst>
              <a:gd name="adj" fmla="val 10000"/>
            </a:avLst>
          </a:prstGeom>
          <a:solidFill>
            <a:srgbClr val="580000"/>
          </a:solidFill>
          <a:ln/>
        </p:spPr>
      </p:sp>
      <p:sp>
        <p:nvSpPr>
          <p:cNvPr id="23" name="Text 21"/>
          <p:cNvSpPr/>
          <p:nvPr/>
        </p:nvSpPr>
        <p:spPr>
          <a:xfrm>
            <a:off x="548640" y="35204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4</a:t>
            </a:r>
            <a:endParaRPr lang="en-US" sz="1800" dirty="0"/>
          </a:p>
        </p:txBody>
      </p:sp>
      <p:sp>
        <p:nvSpPr>
          <p:cNvPr id="24" name="Shape 22"/>
          <p:cNvSpPr/>
          <p:nvPr/>
        </p:nvSpPr>
        <p:spPr>
          <a:xfrm>
            <a:off x="1188720" y="3520440"/>
            <a:ext cx="7406640" cy="548640"/>
          </a:xfrm>
          <a:prstGeom prst="rect">
            <a:avLst>
              <a:gd name="adj" fmla="val 8333"/>
            </a:avLst>
          </a:prstGeom>
          <a:solidFill>
            <a:srgbClr val="F5F5F5"/>
          </a:solidFill>
          <a:ln/>
        </p:spPr>
      </p:sp>
      <p:sp>
        <p:nvSpPr>
          <p:cNvPr id="25" name="Text 23"/>
          <p:cNvSpPr/>
          <p:nvPr/>
        </p:nvSpPr>
        <p:spPr>
          <a:xfrm>
            <a:off x="1371600" y="35204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輸出産地育成（37億円）</a:t>
            </a:r>
            <a:endParaRPr lang="en-US" sz="1600" dirty="0"/>
          </a:p>
        </p:txBody>
      </p:sp>
      <p:sp>
        <p:nvSpPr>
          <p:cNvPr id="26" name="Text 24"/>
          <p:cNvSpPr/>
          <p:nvPr/>
        </p:nvSpPr>
        <p:spPr>
          <a:xfrm>
            <a:off x="4114800" y="35204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輸出向け産地の育成・強化。海外市場のニーズに対応した生産体制を整備</a:t>
            </a:r>
            <a:endParaRPr lang="en-US" sz="1600" dirty="0"/>
          </a:p>
        </p:txBody>
      </p:sp>
      <p:sp>
        <p:nvSpPr>
          <p:cNvPr id="27" name="Text 2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令和8年度予算概算決定の概要</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AD0000"/>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580000"/>
                </a:solidFill>
                <a:latin typeface="Noto Sans JP" pitchFamily="34" charset="0"/>
                <a:ea typeface="Noto Sans JP" pitchFamily="34" charset="-122"/>
                <a:cs typeface="Noto Sans JP" pitchFamily="34" charset="-120"/>
              </a:rPr>
              <a:t>03</a:t>
            </a:r>
            <a:endParaRPr lang="en-US" sz="8000" dirty="0"/>
          </a:p>
        </p:txBody>
      </p:sp>
      <p:sp>
        <p:nvSpPr>
          <p:cNvPr id="4" name="Shape 2"/>
          <p:cNvSpPr/>
          <p:nvPr/>
        </p:nvSpPr>
        <p:spPr>
          <a:xfrm>
            <a:off x="548640" y="2651760"/>
            <a:ext cx="1828800" cy="54864"/>
          </a:xfrm>
          <a:prstGeom prst="rect">
            <a:avLst/>
          </a:prstGeom>
          <a:solidFill>
            <a:srgbClr val="5800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国土強靭化</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第1次国土強靭化実施中期計画の始動</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R8〜R12の5年間で事業規模おおむね20兆円強、農業水利施設の更新・耐震化が加速</a:t>
            </a:r>
            <a:endParaRPr lang="en-US" sz="1600" dirty="0"/>
          </a:p>
        </p:txBody>
      </p:sp>
      <p:sp>
        <p:nvSpPr>
          <p:cNvPr id="7" name="Text 5"/>
          <p:cNvSpPr/>
          <p:nvPr/>
        </p:nvSpPr>
        <p:spPr>
          <a:xfrm>
            <a:off x="548640" y="1463040"/>
            <a:ext cx="8046720" cy="3017520"/>
          </a:xfrm>
          <a:prstGeom prst="rect">
            <a:avLst/>
          </a:prstGeom>
          <a:noFill/>
          <a:ln/>
        </p:spPr>
        <p:txBody>
          <a:bodyPr wrap="square" rtlCol="0" anchor="t"/>
          <a:lstStyle/>
          <a:p>
            <a:pPr indent="0" marL="0">
              <a:lnSpc>
                <a:spcPct val="150000"/>
              </a:lnSpc>
              <a:buNone/>
            </a:pPr>
            <a:r>
              <a:rPr lang="en-US" sz="1600" dirty="0">
                <a:solidFill>
                  <a:srgbClr val="4A4A4A"/>
                </a:solidFill>
                <a:latin typeface="Noto Sans JP" pitchFamily="34" charset="0"/>
                <a:ea typeface="Noto Sans JP" pitchFamily="34" charset="-122"/>
                <a:cs typeface="Noto Sans JP" pitchFamily="34" charset="-120"/>
              </a:rPr>
              <a:t>5か年加速化対策（R3〜R7）の後継として、令和7年6月に閣議決定された「第1次国土強靭化実施中期計画」が令和8年度からスタート。計画期間はR8〜R12の5年間、全省庁合計の事業規模はおおむね20兆円強。農業分野では、老朽化が進む農業水利施設の計画的な更新・長寿命化・耐震化が最重要課題として位置づけられている。</a:t>
            </a:r>
            <a:endParaRPr lang="en-US" sz="1600" dirty="0"/>
          </a:p>
        </p:txBody>
      </p:sp>
      <p:sp>
        <p:nvSpPr>
          <p:cNvPr id="8" name="Text 6"/>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内閣官房 第1次国土強靭化実施中期計画（R7.6.6閣議決定）</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農業農村整備における国土強靭化の主要施策</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ハード・ソフト両面から農村地域の防災・減災を推進</a:t>
            </a:r>
            <a:endParaRPr lang="en-US" sz="1600" dirty="0"/>
          </a:p>
        </p:txBody>
      </p:sp>
      <p:sp>
        <p:nvSpPr>
          <p:cNvPr id="7" name="Shape 5"/>
          <p:cNvSpPr/>
          <p:nvPr/>
        </p:nvSpPr>
        <p:spPr>
          <a:xfrm>
            <a:off x="548640" y="1463040"/>
            <a:ext cx="457200" cy="548640"/>
          </a:xfrm>
          <a:prstGeom prst="rect">
            <a:avLst>
              <a:gd name="adj" fmla="val 10000"/>
            </a:avLst>
          </a:prstGeom>
          <a:solidFill>
            <a:srgbClr val="580000"/>
          </a:solidFill>
          <a:ln/>
        </p:spPr>
      </p:sp>
      <p:sp>
        <p:nvSpPr>
          <p:cNvPr id="8" name="Text 6"/>
          <p:cNvSpPr/>
          <p:nvPr/>
        </p:nvSpPr>
        <p:spPr>
          <a:xfrm>
            <a:off x="548640" y="14630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1</a:t>
            </a:r>
            <a:endParaRPr lang="en-US" sz="1800" dirty="0"/>
          </a:p>
        </p:txBody>
      </p:sp>
      <p:sp>
        <p:nvSpPr>
          <p:cNvPr id="9" name="Shape 7"/>
          <p:cNvSpPr/>
          <p:nvPr/>
        </p:nvSpPr>
        <p:spPr>
          <a:xfrm>
            <a:off x="1188720" y="1463040"/>
            <a:ext cx="7406640" cy="548640"/>
          </a:xfrm>
          <a:prstGeom prst="rect">
            <a:avLst>
              <a:gd name="adj" fmla="val 8333"/>
            </a:avLst>
          </a:prstGeom>
          <a:solidFill>
            <a:srgbClr val="F5F5F5"/>
          </a:solidFill>
          <a:ln/>
        </p:spPr>
      </p:sp>
      <p:sp>
        <p:nvSpPr>
          <p:cNvPr id="10" name="Text 8"/>
          <p:cNvSpPr/>
          <p:nvPr/>
        </p:nvSpPr>
        <p:spPr>
          <a:xfrm>
            <a:off x="1371600" y="14630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農業水利施設の更新・長寿命化・耐震化</a:t>
            </a:r>
            <a:endParaRPr lang="en-US" sz="1600" dirty="0"/>
          </a:p>
        </p:txBody>
      </p:sp>
      <p:sp>
        <p:nvSpPr>
          <p:cNvPr id="11" name="Text 9"/>
          <p:cNvSpPr/>
          <p:nvPr/>
        </p:nvSpPr>
        <p:spPr>
          <a:xfrm>
            <a:off x="4114800" y="14630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基幹的水利施設の戦略的な保全管理。ストックマネジメントの徹底による効率的な更新を推進</a:t>
            </a:r>
            <a:endParaRPr lang="en-US" sz="1600" dirty="0"/>
          </a:p>
        </p:txBody>
      </p:sp>
      <p:sp>
        <p:nvSpPr>
          <p:cNvPr id="12" name="Shape 10"/>
          <p:cNvSpPr/>
          <p:nvPr/>
        </p:nvSpPr>
        <p:spPr>
          <a:xfrm>
            <a:off x="548640" y="2148840"/>
            <a:ext cx="457200" cy="548640"/>
          </a:xfrm>
          <a:prstGeom prst="rect">
            <a:avLst>
              <a:gd name="adj" fmla="val 10000"/>
            </a:avLst>
          </a:prstGeom>
          <a:solidFill>
            <a:srgbClr val="580000"/>
          </a:solidFill>
          <a:ln/>
        </p:spPr>
      </p:sp>
      <p:sp>
        <p:nvSpPr>
          <p:cNvPr id="13" name="Text 11"/>
          <p:cNvSpPr/>
          <p:nvPr/>
        </p:nvSpPr>
        <p:spPr>
          <a:xfrm>
            <a:off x="548640" y="21488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2</a:t>
            </a:r>
            <a:endParaRPr lang="en-US" sz="1800" dirty="0"/>
          </a:p>
        </p:txBody>
      </p:sp>
      <p:sp>
        <p:nvSpPr>
          <p:cNvPr id="14" name="Shape 12"/>
          <p:cNvSpPr/>
          <p:nvPr/>
        </p:nvSpPr>
        <p:spPr>
          <a:xfrm>
            <a:off x="1188720" y="2148840"/>
            <a:ext cx="7406640" cy="548640"/>
          </a:xfrm>
          <a:prstGeom prst="rect">
            <a:avLst>
              <a:gd name="adj" fmla="val 8333"/>
            </a:avLst>
          </a:prstGeom>
          <a:solidFill>
            <a:srgbClr val="F5F5F5"/>
          </a:solidFill>
          <a:ln/>
        </p:spPr>
      </p:sp>
      <p:sp>
        <p:nvSpPr>
          <p:cNvPr id="15" name="Text 13"/>
          <p:cNvSpPr/>
          <p:nvPr/>
        </p:nvSpPr>
        <p:spPr>
          <a:xfrm>
            <a:off x="1371600" y="21488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農業用ため池の防災対策</a:t>
            </a:r>
            <a:endParaRPr lang="en-US" sz="1600" dirty="0"/>
          </a:p>
        </p:txBody>
      </p:sp>
      <p:sp>
        <p:nvSpPr>
          <p:cNvPr id="16" name="Text 14"/>
          <p:cNvSpPr/>
          <p:nvPr/>
        </p:nvSpPr>
        <p:spPr>
          <a:xfrm>
            <a:off x="4114800" y="21488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劣化状況評価の実施、ハザードマップの作成、防災重点農業用ため池の優先的な整備</a:t>
            </a:r>
            <a:endParaRPr lang="en-US" sz="1600" dirty="0"/>
          </a:p>
        </p:txBody>
      </p:sp>
      <p:sp>
        <p:nvSpPr>
          <p:cNvPr id="17" name="Shape 15"/>
          <p:cNvSpPr/>
          <p:nvPr/>
        </p:nvSpPr>
        <p:spPr>
          <a:xfrm>
            <a:off x="548640" y="2834640"/>
            <a:ext cx="457200" cy="548640"/>
          </a:xfrm>
          <a:prstGeom prst="rect">
            <a:avLst>
              <a:gd name="adj" fmla="val 10000"/>
            </a:avLst>
          </a:prstGeom>
          <a:solidFill>
            <a:srgbClr val="580000"/>
          </a:solidFill>
          <a:ln/>
        </p:spPr>
      </p:sp>
      <p:sp>
        <p:nvSpPr>
          <p:cNvPr id="18" name="Text 16"/>
          <p:cNvSpPr/>
          <p:nvPr/>
        </p:nvSpPr>
        <p:spPr>
          <a:xfrm>
            <a:off x="548640" y="28346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3</a:t>
            </a:r>
            <a:endParaRPr lang="en-US" sz="1800" dirty="0"/>
          </a:p>
        </p:txBody>
      </p:sp>
      <p:sp>
        <p:nvSpPr>
          <p:cNvPr id="19" name="Shape 17"/>
          <p:cNvSpPr/>
          <p:nvPr/>
        </p:nvSpPr>
        <p:spPr>
          <a:xfrm>
            <a:off x="1188720" y="2834640"/>
            <a:ext cx="7406640" cy="548640"/>
          </a:xfrm>
          <a:prstGeom prst="rect">
            <a:avLst>
              <a:gd name="adj" fmla="val 8333"/>
            </a:avLst>
          </a:prstGeom>
          <a:solidFill>
            <a:srgbClr val="F5F5F5"/>
          </a:solidFill>
          <a:ln/>
        </p:spPr>
      </p:sp>
      <p:sp>
        <p:nvSpPr>
          <p:cNvPr id="20" name="Text 18"/>
          <p:cNvSpPr/>
          <p:nvPr/>
        </p:nvSpPr>
        <p:spPr>
          <a:xfrm>
            <a:off x="1371600" y="28346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湛水被害防止対策</a:t>
            </a:r>
            <a:endParaRPr lang="en-US" sz="1600" dirty="0"/>
          </a:p>
        </p:txBody>
      </p:sp>
      <p:sp>
        <p:nvSpPr>
          <p:cNvPr id="21" name="Text 19"/>
          <p:cNvSpPr/>
          <p:nvPr/>
        </p:nvSpPr>
        <p:spPr>
          <a:xfrm>
            <a:off x="4114800" y="28346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排水機場・頭首工等の老朽化対策。農山漁村地域における排水能力の強化</a:t>
            </a:r>
            <a:endParaRPr lang="en-US" sz="1600" dirty="0"/>
          </a:p>
        </p:txBody>
      </p:sp>
      <p:sp>
        <p:nvSpPr>
          <p:cNvPr id="22" name="Shape 20"/>
          <p:cNvSpPr/>
          <p:nvPr/>
        </p:nvSpPr>
        <p:spPr>
          <a:xfrm>
            <a:off x="548640" y="3520440"/>
            <a:ext cx="457200" cy="548640"/>
          </a:xfrm>
          <a:prstGeom prst="rect">
            <a:avLst>
              <a:gd name="adj" fmla="val 10000"/>
            </a:avLst>
          </a:prstGeom>
          <a:solidFill>
            <a:srgbClr val="580000"/>
          </a:solidFill>
          <a:ln/>
        </p:spPr>
      </p:sp>
      <p:sp>
        <p:nvSpPr>
          <p:cNvPr id="23" name="Text 21"/>
          <p:cNvSpPr/>
          <p:nvPr/>
        </p:nvSpPr>
        <p:spPr>
          <a:xfrm>
            <a:off x="548640" y="35204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4</a:t>
            </a:r>
            <a:endParaRPr lang="en-US" sz="1800" dirty="0"/>
          </a:p>
        </p:txBody>
      </p:sp>
      <p:sp>
        <p:nvSpPr>
          <p:cNvPr id="24" name="Shape 22"/>
          <p:cNvSpPr/>
          <p:nvPr/>
        </p:nvSpPr>
        <p:spPr>
          <a:xfrm>
            <a:off x="1188720" y="3520440"/>
            <a:ext cx="7406640" cy="548640"/>
          </a:xfrm>
          <a:prstGeom prst="rect">
            <a:avLst>
              <a:gd name="adj" fmla="val 8333"/>
            </a:avLst>
          </a:prstGeom>
          <a:solidFill>
            <a:srgbClr val="F5F5F5"/>
          </a:solidFill>
          <a:ln/>
        </p:spPr>
      </p:sp>
      <p:sp>
        <p:nvSpPr>
          <p:cNvPr id="25" name="Text 23"/>
          <p:cNvSpPr/>
          <p:nvPr/>
        </p:nvSpPr>
        <p:spPr>
          <a:xfrm>
            <a:off x="1371600" y="35204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農業水路等長寿命化・防災減災事業</a:t>
            </a:r>
            <a:endParaRPr lang="en-US" sz="1600" dirty="0"/>
          </a:p>
        </p:txBody>
      </p:sp>
      <p:sp>
        <p:nvSpPr>
          <p:cNvPr id="26" name="Text 24"/>
          <p:cNvSpPr/>
          <p:nvPr/>
        </p:nvSpPr>
        <p:spPr>
          <a:xfrm>
            <a:off x="4114800" y="35204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R7予算282億円。地域の農業水利施設の補修・更新を機動的に実施する交付金事業</a:t>
            </a:r>
            <a:endParaRPr lang="en-US" sz="1600" dirty="0"/>
          </a:p>
        </p:txBody>
      </p:sp>
      <p:sp>
        <p:nvSpPr>
          <p:cNvPr id="27" name="Text 2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農村振興局</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AD0000"/>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580000"/>
                </a:solidFill>
                <a:latin typeface="Noto Sans JP" pitchFamily="34" charset="0"/>
                <a:ea typeface="Noto Sans JP" pitchFamily="34" charset="-122"/>
                <a:cs typeface="Noto Sans JP" pitchFamily="34" charset="-120"/>
              </a:rPr>
              <a:t>04</a:t>
            </a:r>
            <a:endParaRPr lang="en-US" sz="8000" dirty="0"/>
          </a:p>
        </p:txBody>
      </p:sp>
      <p:sp>
        <p:nvSpPr>
          <p:cNvPr id="4" name="Shape 2"/>
          <p:cNvSpPr/>
          <p:nvPr/>
        </p:nvSpPr>
        <p:spPr>
          <a:xfrm>
            <a:off x="548640" y="2651760"/>
            <a:ext cx="1828800" cy="54864"/>
          </a:xfrm>
          <a:prstGeom prst="rect">
            <a:avLst/>
          </a:prstGeom>
          <a:solidFill>
            <a:srgbClr val="5800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スマート農業・DX推進</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スマート農業関連予算と目標</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スマート農業推進予算は前年度比+68%の大幅増</a:t>
            </a:r>
            <a:endParaRPr lang="en-US" sz="1600" dirty="0"/>
          </a:p>
        </p:txBody>
      </p:sp>
      <p:sp>
        <p:nvSpPr>
          <p:cNvPr id="7" name="Shape 5"/>
          <p:cNvSpPr/>
          <p:nvPr/>
        </p:nvSpPr>
        <p:spPr>
          <a:xfrm>
            <a:off x="548640" y="1645920"/>
            <a:ext cx="2499360" cy="2560320"/>
          </a:xfrm>
          <a:prstGeom prst="rect">
            <a:avLst>
              <a:gd name="adj" fmla="val 3659"/>
            </a:avLst>
          </a:prstGeom>
          <a:solidFill>
            <a:srgbClr val="F5F5F5"/>
          </a:solidFill>
          <a:ln/>
        </p:spPr>
      </p:sp>
      <p:sp>
        <p:nvSpPr>
          <p:cNvPr id="8" name="Text 6"/>
          <p:cNvSpPr/>
          <p:nvPr/>
        </p:nvSpPr>
        <p:spPr>
          <a:xfrm>
            <a:off x="548640" y="1920240"/>
            <a:ext cx="2499360" cy="1097280"/>
          </a:xfrm>
          <a:prstGeom prst="rect">
            <a:avLst/>
          </a:prstGeom>
          <a:noFill/>
          <a:ln/>
        </p:spPr>
        <p:txBody>
          <a:bodyPr wrap="square" rtlCol="0" anchor="ctr"/>
          <a:lstStyle/>
          <a:p>
            <a:pPr algn="ctr" indent="0" marL="0">
              <a:buNone/>
            </a:pPr>
            <a:r>
              <a:rPr lang="en-US" sz="3200" b="1" dirty="0">
                <a:solidFill>
                  <a:srgbClr val="AD0000"/>
                </a:solidFill>
                <a:latin typeface="Noto Sans JP" pitchFamily="34" charset="0"/>
                <a:ea typeface="Noto Sans JP" pitchFamily="34" charset="-122"/>
                <a:cs typeface="Noto Sans JP" pitchFamily="34" charset="-120"/>
              </a:rPr>
              <a:t>306億円</a:t>
            </a:r>
            <a:endParaRPr lang="en-US" sz="3200" dirty="0"/>
          </a:p>
        </p:txBody>
      </p:sp>
      <p:sp>
        <p:nvSpPr>
          <p:cNvPr id="9" name="Text 7"/>
          <p:cNvSpPr/>
          <p:nvPr/>
        </p:nvSpPr>
        <p:spPr>
          <a:xfrm>
            <a:off x="548640" y="3017520"/>
            <a:ext cx="2499360" cy="457200"/>
          </a:xfrm>
          <a:prstGeom prst="rect">
            <a:avLst/>
          </a:prstGeom>
          <a:noFill/>
          <a:ln/>
        </p:spPr>
        <p:txBody>
          <a:bodyPr wrap="square" rtlCol="0" anchor="ctr"/>
          <a:lstStyle/>
          <a:p>
            <a:pPr algn="ctr" indent="0" marL="0">
              <a:buNone/>
            </a:pPr>
            <a:r>
              <a:rPr lang="en-US" sz="1600" b="1" dirty="0">
                <a:solidFill>
                  <a:srgbClr val="1A1A1A"/>
                </a:solidFill>
                <a:latin typeface="Noto Sans JP" pitchFamily="34" charset="0"/>
                <a:ea typeface="Noto Sans JP" pitchFamily="34" charset="-122"/>
                <a:cs typeface="Noto Sans JP" pitchFamily="34" charset="-120"/>
              </a:rPr>
              <a:t>スマート農業技術活用促進</a:t>
            </a:r>
            <a:endParaRPr lang="en-US" sz="1600" dirty="0"/>
          </a:p>
        </p:txBody>
      </p:sp>
      <p:sp>
        <p:nvSpPr>
          <p:cNvPr id="10" name="Text 8"/>
          <p:cNvSpPr/>
          <p:nvPr/>
        </p:nvSpPr>
        <p:spPr>
          <a:xfrm>
            <a:off x="640080" y="3474720"/>
            <a:ext cx="2316480" cy="548640"/>
          </a:xfrm>
          <a:prstGeom prst="rect">
            <a:avLst/>
          </a:prstGeom>
          <a:noFill/>
          <a:ln/>
        </p:spPr>
        <p:txBody>
          <a:bodyPr wrap="square" rtlCol="0" anchor="t"/>
          <a:lstStyle/>
          <a:p>
            <a:pPr algn="ctr" indent="0" marL="0">
              <a:buNone/>
            </a:pPr>
            <a:r>
              <a:rPr lang="en-US" sz="1600" dirty="0">
                <a:solidFill>
                  <a:srgbClr val="4A4A4A"/>
                </a:solidFill>
                <a:latin typeface="Noto Sans JP" pitchFamily="34" charset="0"/>
                <a:ea typeface="Noto Sans JP" pitchFamily="34" charset="-122"/>
                <a:cs typeface="Noto Sans JP" pitchFamily="34" charset="-120"/>
              </a:rPr>
              <a:t>前年度182億円から68%増の大幅拡充</a:t>
            </a:r>
            <a:endParaRPr lang="en-US" sz="1600" dirty="0"/>
          </a:p>
        </p:txBody>
      </p:sp>
      <p:sp>
        <p:nvSpPr>
          <p:cNvPr id="11" name="Shape 9"/>
          <p:cNvSpPr/>
          <p:nvPr/>
        </p:nvSpPr>
        <p:spPr>
          <a:xfrm>
            <a:off x="3322320" y="1645920"/>
            <a:ext cx="2499360" cy="2560320"/>
          </a:xfrm>
          <a:prstGeom prst="rect">
            <a:avLst>
              <a:gd name="adj" fmla="val 3659"/>
            </a:avLst>
          </a:prstGeom>
          <a:solidFill>
            <a:srgbClr val="F5F5F5"/>
          </a:solidFill>
          <a:ln/>
        </p:spPr>
      </p:sp>
      <p:sp>
        <p:nvSpPr>
          <p:cNvPr id="12" name="Text 10"/>
          <p:cNvSpPr/>
          <p:nvPr/>
        </p:nvSpPr>
        <p:spPr>
          <a:xfrm>
            <a:off x="3322320" y="1920240"/>
            <a:ext cx="2499360" cy="1097280"/>
          </a:xfrm>
          <a:prstGeom prst="rect">
            <a:avLst/>
          </a:prstGeom>
          <a:noFill/>
          <a:ln/>
        </p:spPr>
        <p:txBody>
          <a:bodyPr wrap="square" rtlCol="0" anchor="ctr"/>
          <a:lstStyle/>
          <a:p>
            <a:pPr algn="ctr" indent="0" marL="0">
              <a:buNone/>
            </a:pPr>
            <a:r>
              <a:rPr lang="en-US" sz="3200" b="1" dirty="0">
                <a:solidFill>
                  <a:srgbClr val="AD0000"/>
                </a:solidFill>
                <a:latin typeface="Noto Sans JP" pitchFamily="34" charset="0"/>
                <a:ea typeface="Noto Sans JP" pitchFamily="34" charset="-122"/>
                <a:cs typeface="Noto Sans JP" pitchFamily="34" charset="-120"/>
              </a:rPr>
              <a:t>50%</a:t>
            </a:r>
            <a:endParaRPr lang="en-US" sz="3200" dirty="0"/>
          </a:p>
        </p:txBody>
      </p:sp>
      <p:sp>
        <p:nvSpPr>
          <p:cNvPr id="13" name="Text 11"/>
          <p:cNvSpPr/>
          <p:nvPr/>
        </p:nvSpPr>
        <p:spPr>
          <a:xfrm>
            <a:off x="3322320" y="3017520"/>
            <a:ext cx="2499360" cy="457200"/>
          </a:xfrm>
          <a:prstGeom prst="rect">
            <a:avLst/>
          </a:prstGeom>
          <a:noFill/>
          <a:ln/>
        </p:spPr>
        <p:txBody>
          <a:bodyPr wrap="square" rtlCol="0" anchor="ctr"/>
          <a:lstStyle/>
          <a:p>
            <a:pPr algn="ctr" indent="0" marL="0">
              <a:buNone/>
            </a:pPr>
            <a:r>
              <a:rPr lang="en-US" sz="1600" b="1" dirty="0">
                <a:solidFill>
                  <a:srgbClr val="1A1A1A"/>
                </a:solidFill>
                <a:latin typeface="Noto Sans JP" pitchFamily="34" charset="0"/>
                <a:ea typeface="Noto Sans JP" pitchFamily="34" charset="-122"/>
                <a:cs typeface="Noto Sans JP" pitchFamily="34" charset="-120"/>
              </a:rPr>
              <a:t>スマート農業活用率目標</a:t>
            </a:r>
            <a:endParaRPr lang="en-US" sz="1600" dirty="0"/>
          </a:p>
        </p:txBody>
      </p:sp>
      <p:sp>
        <p:nvSpPr>
          <p:cNvPr id="14" name="Text 12"/>
          <p:cNvSpPr/>
          <p:nvPr/>
        </p:nvSpPr>
        <p:spPr>
          <a:xfrm>
            <a:off x="3413760" y="3474720"/>
            <a:ext cx="2316480" cy="548640"/>
          </a:xfrm>
          <a:prstGeom prst="rect">
            <a:avLst/>
          </a:prstGeom>
          <a:noFill/>
          <a:ln/>
        </p:spPr>
        <p:txBody>
          <a:bodyPr wrap="square" rtlCol="0" anchor="t"/>
          <a:lstStyle/>
          <a:p>
            <a:pPr algn="ctr" indent="0" marL="0">
              <a:buNone/>
            </a:pPr>
            <a:r>
              <a:rPr lang="en-US" sz="1600" dirty="0">
                <a:solidFill>
                  <a:srgbClr val="4A4A4A"/>
                </a:solidFill>
                <a:latin typeface="Noto Sans JP" pitchFamily="34" charset="0"/>
                <a:ea typeface="Noto Sans JP" pitchFamily="34" charset="-122"/>
                <a:cs typeface="Noto Sans JP" pitchFamily="34" charset="-120"/>
              </a:rPr>
              <a:t>2031年（R12）までに活用割合50%以上を目指す</a:t>
            </a:r>
            <a:endParaRPr lang="en-US" sz="1600" dirty="0"/>
          </a:p>
        </p:txBody>
      </p:sp>
      <p:sp>
        <p:nvSpPr>
          <p:cNvPr id="15" name="Shape 13"/>
          <p:cNvSpPr/>
          <p:nvPr/>
        </p:nvSpPr>
        <p:spPr>
          <a:xfrm>
            <a:off x="6096000" y="1645920"/>
            <a:ext cx="2499360" cy="2560320"/>
          </a:xfrm>
          <a:prstGeom prst="rect">
            <a:avLst>
              <a:gd name="adj" fmla="val 3659"/>
            </a:avLst>
          </a:prstGeom>
          <a:solidFill>
            <a:srgbClr val="F5F5F5"/>
          </a:solidFill>
          <a:ln/>
        </p:spPr>
      </p:sp>
      <p:sp>
        <p:nvSpPr>
          <p:cNvPr id="16" name="Text 14"/>
          <p:cNvSpPr/>
          <p:nvPr/>
        </p:nvSpPr>
        <p:spPr>
          <a:xfrm>
            <a:off x="6096000" y="1920240"/>
            <a:ext cx="2499360" cy="1097280"/>
          </a:xfrm>
          <a:prstGeom prst="rect">
            <a:avLst/>
          </a:prstGeom>
          <a:noFill/>
          <a:ln/>
        </p:spPr>
        <p:txBody>
          <a:bodyPr wrap="square" rtlCol="0" anchor="ctr"/>
          <a:lstStyle/>
          <a:p>
            <a:pPr algn="ctr" indent="0" marL="0">
              <a:buNone/>
            </a:pPr>
            <a:r>
              <a:rPr lang="en-US" sz="3200" b="1" dirty="0">
                <a:solidFill>
                  <a:srgbClr val="AD0000"/>
                </a:solidFill>
                <a:latin typeface="Noto Sans JP" pitchFamily="34" charset="0"/>
                <a:ea typeface="Noto Sans JP" pitchFamily="34" charset="-122"/>
                <a:cs typeface="Noto Sans JP" pitchFamily="34" charset="-120"/>
              </a:rPr>
              <a:t>10億円</a:t>
            </a:r>
            <a:endParaRPr lang="en-US" sz="3200" dirty="0"/>
          </a:p>
        </p:txBody>
      </p:sp>
      <p:sp>
        <p:nvSpPr>
          <p:cNvPr id="17" name="Text 15"/>
          <p:cNvSpPr/>
          <p:nvPr/>
        </p:nvSpPr>
        <p:spPr>
          <a:xfrm>
            <a:off x="6096000" y="3017520"/>
            <a:ext cx="2499360" cy="457200"/>
          </a:xfrm>
          <a:prstGeom prst="rect">
            <a:avLst/>
          </a:prstGeom>
          <a:noFill/>
          <a:ln/>
        </p:spPr>
        <p:txBody>
          <a:bodyPr wrap="square" rtlCol="0" anchor="ctr"/>
          <a:lstStyle/>
          <a:p>
            <a:pPr algn="ctr" indent="0" marL="0">
              <a:buNone/>
            </a:pPr>
            <a:r>
              <a:rPr lang="en-US" sz="1600" b="1" dirty="0">
                <a:solidFill>
                  <a:srgbClr val="1A1A1A"/>
                </a:solidFill>
                <a:latin typeface="Noto Sans JP" pitchFamily="34" charset="0"/>
                <a:ea typeface="Noto Sans JP" pitchFamily="34" charset="-122"/>
                <a:cs typeface="Noto Sans JP" pitchFamily="34" charset="-120"/>
              </a:rPr>
              <a:t>革新的新品種開発</a:t>
            </a:r>
            <a:endParaRPr lang="en-US" sz="1600" dirty="0"/>
          </a:p>
        </p:txBody>
      </p:sp>
      <p:sp>
        <p:nvSpPr>
          <p:cNvPr id="18" name="Text 16"/>
          <p:cNvSpPr/>
          <p:nvPr/>
        </p:nvSpPr>
        <p:spPr>
          <a:xfrm>
            <a:off x="6187440" y="3474720"/>
            <a:ext cx="2316480" cy="548640"/>
          </a:xfrm>
          <a:prstGeom prst="rect">
            <a:avLst/>
          </a:prstGeom>
          <a:noFill/>
          <a:ln/>
        </p:spPr>
        <p:txBody>
          <a:bodyPr wrap="square" rtlCol="0" anchor="t"/>
          <a:lstStyle/>
          <a:p>
            <a:pPr algn="ctr" indent="0" marL="0">
              <a:buNone/>
            </a:pPr>
            <a:r>
              <a:rPr lang="en-US" sz="1600" dirty="0">
                <a:solidFill>
                  <a:srgbClr val="4A4A4A"/>
                </a:solidFill>
                <a:latin typeface="Noto Sans JP" pitchFamily="34" charset="0"/>
                <a:ea typeface="Noto Sans JP" pitchFamily="34" charset="-122"/>
                <a:cs typeface="Noto Sans JP" pitchFamily="34" charset="-120"/>
              </a:rPr>
              <a:t>生産性向上に資する新品種の開発を新規事業化</a:t>
            </a:r>
            <a:endParaRPr lang="en-US" sz="1600" dirty="0"/>
          </a:p>
        </p:txBody>
      </p:sp>
      <p:sp>
        <p:nvSpPr>
          <p:cNvPr id="19" name="Text 17"/>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令和8年度概算要求の概要</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AD0000"/>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580000"/>
                </a:solidFill>
                <a:latin typeface="Noto Sans JP" pitchFamily="34" charset="0"/>
                <a:ea typeface="Noto Sans JP" pitchFamily="34" charset="-122"/>
                <a:cs typeface="Noto Sans JP" pitchFamily="34" charset="-120"/>
              </a:rPr>
              <a:t>05</a:t>
            </a:r>
            <a:endParaRPr lang="en-US" sz="8000" dirty="0"/>
          </a:p>
        </p:txBody>
      </p:sp>
      <p:sp>
        <p:nvSpPr>
          <p:cNvPr id="4" name="Shape 2"/>
          <p:cNvSpPr/>
          <p:nvPr/>
        </p:nvSpPr>
        <p:spPr>
          <a:xfrm>
            <a:off x="548640" y="2651760"/>
            <a:ext cx="1828800" cy="54864"/>
          </a:xfrm>
          <a:prstGeom prst="rect">
            <a:avLst/>
          </a:prstGeom>
          <a:solidFill>
            <a:srgbClr val="5800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水田政策の見直し</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飼料用米（一般品種）交付単価の推移</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令和8年度は標準単価65,000円/10a、段階的に引下げ</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914400"/>
        </p:xfrm>
        <a:graphic>
          <a:graphicData uri="http://schemas.openxmlformats.org/drawingml/2006/table">
            <a:tbl>
              <a:tblPr/>
              <a:tblGrid>
                <a:gridCol w="1828800"/>
                <a:gridCol w="3108960"/>
                <a:gridCol w="3108960"/>
              </a:tblGrid>
              <a:tr h="411480">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年度</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D0000"/>
                    </a:solidFill>
                  </a:tcPr>
                </a:tc>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標準単価（10a当たり）</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D0000"/>
                    </a:solidFill>
                  </a:tcPr>
                </a:tc>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収量連動範囲</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D0000"/>
                    </a:solidFill>
                  </a:tcPr>
                </a:tc>
              </a:tr>
              <a:tr h="411480">
                <a:tc>
                  <a:txBody>
                    <a:bodyPr/>
                    <a:lstStyle/>
                    <a:p>
                      <a:pPr algn="l" indent="0" marL="0">
                        <a:buNone/>
                      </a:pPr>
                      <a:r>
                        <a:rPr lang="en-US" sz="1200" b="1" dirty="0">
                          <a:solidFill>
                            <a:srgbClr val="1A1A1A"/>
                          </a:solidFill>
                          <a:latin typeface="Noto Sans JP" pitchFamily="34" charset="0"/>
                          <a:ea typeface="Noto Sans JP" pitchFamily="34" charset="-122"/>
                          <a:cs typeface="Noto Sans JP" pitchFamily="34" charset="-120"/>
                        </a:rPr>
                        <a:t>令和6年度</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1A1A1A"/>
                          </a:solidFill>
                          <a:latin typeface="Noto Sans JP" pitchFamily="34" charset="0"/>
                          <a:ea typeface="Noto Sans JP" pitchFamily="34" charset="-122"/>
                          <a:cs typeface="Noto Sans JP" pitchFamily="34" charset="-120"/>
                        </a:rPr>
                        <a:t>75,000円</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1A1A1A"/>
                          </a:solidFill>
                          <a:latin typeface="Noto Sans JP" pitchFamily="34" charset="0"/>
                          <a:ea typeface="Noto Sans JP" pitchFamily="34" charset="-122"/>
                          <a:cs typeface="Noto Sans JP" pitchFamily="34" charset="-120"/>
                        </a:rPr>
                        <a:t>55,000〜95,000円</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411480">
                <a:tc>
                  <a:txBody>
                    <a:bodyPr/>
                    <a:lstStyle/>
                    <a:p>
                      <a:pPr algn="l" indent="0" marL="0">
                        <a:buNone/>
                      </a:pPr>
                      <a:r>
                        <a:rPr lang="en-US" sz="1200" b="1" dirty="0">
                          <a:solidFill>
                            <a:srgbClr val="1A1A1A"/>
                          </a:solidFill>
                          <a:latin typeface="Noto Sans JP" pitchFamily="34" charset="0"/>
                          <a:ea typeface="Noto Sans JP" pitchFamily="34" charset="-122"/>
                          <a:cs typeface="Noto Sans JP" pitchFamily="34" charset="-120"/>
                        </a:rPr>
                        <a:t>令和7年度</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Noto Sans JP" pitchFamily="34" charset="0"/>
                          <a:ea typeface="Noto Sans JP" pitchFamily="34" charset="-122"/>
                          <a:cs typeface="Noto Sans JP" pitchFamily="34" charset="-120"/>
                        </a:rPr>
                        <a:t>70,000円</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Noto Sans JP" pitchFamily="34" charset="0"/>
                          <a:ea typeface="Noto Sans JP" pitchFamily="34" charset="-122"/>
                          <a:cs typeface="Noto Sans JP" pitchFamily="34" charset="-120"/>
                        </a:rPr>
                        <a:t>55,000〜85,000円</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1A1A1A"/>
                          </a:solidFill>
                          <a:latin typeface="Noto Sans JP" pitchFamily="34" charset="0"/>
                          <a:ea typeface="Noto Sans JP" pitchFamily="34" charset="-122"/>
                          <a:cs typeface="Noto Sans JP" pitchFamily="34" charset="-120"/>
                        </a:rPr>
                        <a:t>令和8年度</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1A1A1A"/>
                          </a:solidFill>
                          <a:latin typeface="Noto Sans JP" pitchFamily="34" charset="0"/>
                          <a:ea typeface="Noto Sans JP" pitchFamily="34" charset="-122"/>
                          <a:cs typeface="Noto Sans JP" pitchFamily="34" charset="-120"/>
                        </a:rPr>
                        <a:t>65,000円</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algn="ctr" indent="0" marL="0">
                        <a:buNone/>
                      </a:pPr>
                      <a:r>
                        <a:rPr lang="en-US" sz="1200" dirty="0">
                          <a:solidFill>
                            <a:srgbClr val="1A1A1A"/>
                          </a:solidFill>
                          <a:latin typeface="Noto Sans JP" pitchFamily="34" charset="0"/>
                          <a:ea typeface="Noto Sans JP" pitchFamily="34" charset="-122"/>
                          <a:cs typeface="Noto Sans JP" pitchFamily="34" charset="-120"/>
                        </a:rPr>
                        <a:t>55,000〜75,000円</a:t>
                      </a:r>
                      <a:endParaRPr lang="en-US" sz="1200" dirty="0">
                        <a:latin typeface="Noto Sans JP" charset="0"/>
                        <a:ea typeface="Noto Sans JP" charset="0"/>
                        <a:cs typeface="Noto Sans JP"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8" name="Text 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水田活用直接支払交付金</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令和9年度からの水田政策抜本見直し</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「水田」対象から「作物ごとの生産性向上」への支援に転換、R8夏に詳細を公表予定</a:t>
            </a:r>
            <a:endParaRPr lang="en-US" sz="1600" dirty="0"/>
          </a:p>
        </p:txBody>
      </p:sp>
      <p:sp>
        <p:nvSpPr>
          <p:cNvPr id="7" name="Text 5"/>
          <p:cNvSpPr/>
          <p:nvPr/>
        </p:nvSpPr>
        <p:spPr>
          <a:xfrm>
            <a:off x="548640" y="1463040"/>
            <a:ext cx="8046720" cy="3017520"/>
          </a:xfrm>
          <a:prstGeom prst="rect">
            <a:avLst/>
          </a:prstGeom>
          <a:noFill/>
          <a:ln/>
        </p:spPr>
        <p:txBody>
          <a:bodyPr wrap="square" rtlCol="0" anchor="t"/>
          <a:lstStyle/>
          <a:p>
            <a:pPr indent="0" marL="0">
              <a:lnSpc>
                <a:spcPct val="150000"/>
              </a:lnSpc>
              <a:buNone/>
            </a:pPr>
            <a:r>
              <a:rPr lang="en-US" sz="1600" dirty="0">
                <a:solidFill>
                  <a:srgbClr val="4A4A4A"/>
                </a:solidFill>
                <a:latin typeface="Noto Sans JP" pitchFamily="34" charset="0"/>
                <a:ea typeface="Noto Sans JP" pitchFamily="34" charset="-122"/>
                <a:cs typeface="Noto Sans JP" pitchFamily="34" charset="-120"/>
              </a:rPr>
              <a:t>農林水産省は令和9年度から水田政策を抜本的に見直す方針を表明。従来の「水田」を対象とした支援から、「作物ごとの生産性向上」に取り組む者への支援に転換する。飼料用米中心の支援から青刈りとうもろこし等への転換を促進。麦・大豆は水田・畑を問わず生産性向上に取り組む者を支援。5年水張り要件はR7・8年度は連作障害回避の取組で代替可能、R9年度以降は要件撤廃の方向。令和8年夏の概算要求に検討内容を反映予定。</a:t>
            </a:r>
            <a:endParaRPr lang="en-US" sz="1600" dirty="0"/>
          </a:p>
        </p:txBody>
      </p:sp>
      <p:sp>
        <p:nvSpPr>
          <p:cNvPr id="8" name="Text 6"/>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農村ニュース（R7.2.11）、農林水産省</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AD0000"/>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580000"/>
                </a:solidFill>
                <a:latin typeface="Noto Sans JP" pitchFamily="34" charset="0"/>
                <a:ea typeface="Noto Sans JP" pitchFamily="34" charset="-122"/>
                <a:cs typeface="Noto Sans JP" pitchFamily="34" charset="-120"/>
              </a:rPr>
              <a:t>06</a:t>
            </a:r>
            <a:endParaRPr lang="en-US" sz="8000" dirty="0"/>
          </a:p>
        </p:txBody>
      </p:sp>
      <p:sp>
        <p:nvSpPr>
          <p:cNvPr id="4" name="Shape 2"/>
          <p:cNvSpPr/>
          <p:nvPr/>
        </p:nvSpPr>
        <p:spPr>
          <a:xfrm>
            <a:off x="548640" y="2651760"/>
            <a:ext cx="1828800" cy="54864"/>
          </a:xfrm>
          <a:prstGeom prst="rect">
            <a:avLst/>
          </a:prstGeom>
          <a:solidFill>
            <a:srgbClr val="5800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自治体への影響と対応</a:t>
            </a: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1A1A1A"/>
                </a:solidFill>
                <a:latin typeface="Noto Sans JP" pitchFamily="34" charset="0"/>
                <a:ea typeface="Noto Sans JP" pitchFamily="34" charset="-122"/>
                <a:cs typeface="Noto Sans JP" pitchFamily="34" charset="-120"/>
              </a:rPr>
              <a:t>自治体が対応すべき主要ポイント</a:t>
            </a:r>
            <a:endParaRPr lang="en-US" sz="2400" dirty="0"/>
          </a:p>
        </p:txBody>
      </p:sp>
      <p:sp>
        <p:nvSpPr>
          <p:cNvPr id="3" name="Shape 1"/>
          <p:cNvSpPr/>
          <p:nvPr/>
        </p:nvSpPr>
        <p:spPr>
          <a:xfrm>
            <a:off x="548640" y="731520"/>
            <a:ext cx="1097280" cy="36576"/>
          </a:xfrm>
          <a:prstGeom prst="rect">
            <a:avLst/>
          </a:prstGeom>
          <a:solidFill>
            <a:srgbClr val="0A9300"/>
          </a:solidFill>
          <a:ln/>
        </p:spPr>
      </p:sp>
      <p:sp>
        <p:nvSpPr>
          <p:cNvPr id="4" name="Shape 2"/>
          <p:cNvSpPr/>
          <p:nvPr/>
        </p:nvSpPr>
        <p:spPr>
          <a:xfrm>
            <a:off x="548640" y="822960"/>
            <a:ext cx="8046720" cy="457200"/>
          </a:xfrm>
          <a:prstGeom prst="rect">
            <a:avLst>
              <a:gd name="adj" fmla="val 10000"/>
            </a:avLst>
          </a:prstGeom>
          <a:solidFill>
            <a:srgbClr val="AD0000"/>
          </a:solidFill>
          <a:ln/>
        </p:spPr>
      </p:sp>
      <p:sp>
        <p:nvSpPr>
          <p:cNvPr id="5" name="Shape 3"/>
          <p:cNvSpPr/>
          <p:nvPr/>
        </p:nvSpPr>
        <p:spPr>
          <a:xfrm>
            <a:off x="548640" y="822960"/>
            <a:ext cx="54864" cy="457200"/>
          </a:xfrm>
          <a:prstGeom prst="rect">
            <a:avLst/>
          </a:prstGeom>
          <a:solidFill>
            <a:srgbClr val="5800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制度変更に先行して体制整備・計画策定に着手することが重要</a:t>
            </a:r>
            <a:endParaRPr lang="en-US" sz="1600" dirty="0"/>
          </a:p>
        </p:txBody>
      </p:sp>
      <p:sp>
        <p:nvSpPr>
          <p:cNvPr id="7" name="Shape 5"/>
          <p:cNvSpPr/>
          <p:nvPr/>
        </p:nvSpPr>
        <p:spPr>
          <a:xfrm>
            <a:off x="548640" y="1463040"/>
            <a:ext cx="457200" cy="548640"/>
          </a:xfrm>
          <a:prstGeom prst="rect">
            <a:avLst>
              <a:gd name="adj" fmla="val 10000"/>
            </a:avLst>
          </a:prstGeom>
          <a:solidFill>
            <a:srgbClr val="580000"/>
          </a:solidFill>
          <a:ln/>
        </p:spPr>
      </p:sp>
      <p:sp>
        <p:nvSpPr>
          <p:cNvPr id="8" name="Text 6"/>
          <p:cNvSpPr/>
          <p:nvPr/>
        </p:nvSpPr>
        <p:spPr>
          <a:xfrm>
            <a:off x="548640" y="14630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1</a:t>
            </a:r>
            <a:endParaRPr lang="en-US" sz="1800" dirty="0"/>
          </a:p>
        </p:txBody>
      </p:sp>
      <p:sp>
        <p:nvSpPr>
          <p:cNvPr id="9" name="Shape 7"/>
          <p:cNvSpPr/>
          <p:nvPr/>
        </p:nvSpPr>
        <p:spPr>
          <a:xfrm>
            <a:off x="1188720" y="1463040"/>
            <a:ext cx="7406640" cy="548640"/>
          </a:xfrm>
          <a:prstGeom prst="rect">
            <a:avLst>
              <a:gd name="adj" fmla="val 8333"/>
            </a:avLst>
          </a:prstGeom>
          <a:solidFill>
            <a:srgbClr val="F5F5F5"/>
          </a:solidFill>
          <a:ln/>
        </p:spPr>
      </p:sp>
      <p:sp>
        <p:nvSpPr>
          <p:cNvPr id="10" name="Text 8"/>
          <p:cNvSpPr/>
          <p:nvPr/>
        </p:nvSpPr>
        <p:spPr>
          <a:xfrm>
            <a:off x="1371600" y="14630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構造転換集中対策の活用（494億円）</a:t>
            </a:r>
            <a:endParaRPr lang="en-US" sz="1600" dirty="0"/>
          </a:p>
        </p:txBody>
      </p:sp>
      <p:sp>
        <p:nvSpPr>
          <p:cNvPr id="11" name="Text 9"/>
          <p:cNvSpPr/>
          <p:nvPr/>
        </p:nvSpPr>
        <p:spPr>
          <a:xfrm>
            <a:off x="4114800" y="14630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農地大区画化・共同利用施設再編等の事業要望の取りまとめと計画策定を早期に開始</a:t>
            </a:r>
            <a:endParaRPr lang="en-US" sz="1600" dirty="0"/>
          </a:p>
        </p:txBody>
      </p:sp>
      <p:sp>
        <p:nvSpPr>
          <p:cNvPr id="12" name="Shape 10"/>
          <p:cNvSpPr/>
          <p:nvPr/>
        </p:nvSpPr>
        <p:spPr>
          <a:xfrm>
            <a:off x="548640" y="2148840"/>
            <a:ext cx="457200" cy="548640"/>
          </a:xfrm>
          <a:prstGeom prst="rect">
            <a:avLst>
              <a:gd name="adj" fmla="val 10000"/>
            </a:avLst>
          </a:prstGeom>
          <a:solidFill>
            <a:srgbClr val="580000"/>
          </a:solidFill>
          <a:ln/>
        </p:spPr>
      </p:sp>
      <p:sp>
        <p:nvSpPr>
          <p:cNvPr id="13" name="Text 11"/>
          <p:cNvSpPr/>
          <p:nvPr/>
        </p:nvSpPr>
        <p:spPr>
          <a:xfrm>
            <a:off x="548640" y="21488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2</a:t>
            </a:r>
            <a:endParaRPr lang="en-US" sz="1800" dirty="0"/>
          </a:p>
        </p:txBody>
      </p:sp>
      <p:sp>
        <p:nvSpPr>
          <p:cNvPr id="14" name="Shape 12"/>
          <p:cNvSpPr/>
          <p:nvPr/>
        </p:nvSpPr>
        <p:spPr>
          <a:xfrm>
            <a:off x="1188720" y="2148840"/>
            <a:ext cx="7406640" cy="548640"/>
          </a:xfrm>
          <a:prstGeom prst="rect">
            <a:avLst>
              <a:gd name="adj" fmla="val 8333"/>
            </a:avLst>
          </a:prstGeom>
          <a:solidFill>
            <a:srgbClr val="F5F5F5"/>
          </a:solidFill>
          <a:ln/>
        </p:spPr>
      </p:sp>
      <p:sp>
        <p:nvSpPr>
          <p:cNvPr id="15" name="Text 13"/>
          <p:cNvSpPr/>
          <p:nvPr/>
        </p:nvSpPr>
        <p:spPr>
          <a:xfrm>
            <a:off x="1371600" y="21488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国土強靭化中期計画への対応</a:t>
            </a:r>
            <a:endParaRPr lang="en-US" sz="1600" dirty="0"/>
          </a:p>
        </p:txBody>
      </p:sp>
      <p:sp>
        <p:nvSpPr>
          <p:cNvPr id="16" name="Text 14"/>
          <p:cNvSpPr/>
          <p:nvPr/>
        </p:nvSpPr>
        <p:spPr>
          <a:xfrm>
            <a:off x="4114800" y="21488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農業水利施設の点検・評価を実施し、更新・耐震化の優先順位を明確化。防災重点ため池対策の推進</a:t>
            </a:r>
            <a:endParaRPr lang="en-US" sz="1600" dirty="0"/>
          </a:p>
        </p:txBody>
      </p:sp>
      <p:sp>
        <p:nvSpPr>
          <p:cNvPr id="17" name="Shape 15"/>
          <p:cNvSpPr/>
          <p:nvPr/>
        </p:nvSpPr>
        <p:spPr>
          <a:xfrm>
            <a:off x="548640" y="2834640"/>
            <a:ext cx="457200" cy="548640"/>
          </a:xfrm>
          <a:prstGeom prst="rect">
            <a:avLst>
              <a:gd name="adj" fmla="val 10000"/>
            </a:avLst>
          </a:prstGeom>
          <a:solidFill>
            <a:srgbClr val="580000"/>
          </a:solidFill>
          <a:ln/>
        </p:spPr>
      </p:sp>
      <p:sp>
        <p:nvSpPr>
          <p:cNvPr id="18" name="Text 16"/>
          <p:cNvSpPr/>
          <p:nvPr/>
        </p:nvSpPr>
        <p:spPr>
          <a:xfrm>
            <a:off x="548640" y="28346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3</a:t>
            </a:r>
            <a:endParaRPr lang="en-US" sz="1800" dirty="0"/>
          </a:p>
        </p:txBody>
      </p:sp>
      <p:sp>
        <p:nvSpPr>
          <p:cNvPr id="19" name="Shape 17"/>
          <p:cNvSpPr/>
          <p:nvPr/>
        </p:nvSpPr>
        <p:spPr>
          <a:xfrm>
            <a:off x="1188720" y="2834640"/>
            <a:ext cx="7406640" cy="548640"/>
          </a:xfrm>
          <a:prstGeom prst="rect">
            <a:avLst>
              <a:gd name="adj" fmla="val 8333"/>
            </a:avLst>
          </a:prstGeom>
          <a:solidFill>
            <a:srgbClr val="F5F5F5"/>
          </a:solidFill>
          <a:ln/>
        </p:spPr>
      </p:sp>
      <p:sp>
        <p:nvSpPr>
          <p:cNvPr id="20" name="Text 18"/>
          <p:cNvSpPr/>
          <p:nvPr/>
        </p:nvSpPr>
        <p:spPr>
          <a:xfrm>
            <a:off x="1371600" y="28346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水田政策見直しへの準備</a:t>
            </a:r>
            <a:endParaRPr lang="en-US" sz="1600" dirty="0"/>
          </a:p>
        </p:txBody>
      </p:sp>
      <p:sp>
        <p:nvSpPr>
          <p:cNvPr id="21" name="Text 19"/>
          <p:cNvSpPr/>
          <p:nvPr/>
        </p:nvSpPr>
        <p:spPr>
          <a:xfrm>
            <a:off x="4114800" y="28346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飼料用米交付単価引下げの影響試算、R9年度の抜本見直しに向けた地域農業の方向性検討</a:t>
            </a:r>
            <a:endParaRPr lang="en-US" sz="1600" dirty="0"/>
          </a:p>
        </p:txBody>
      </p:sp>
      <p:sp>
        <p:nvSpPr>
          <p:cNvPr id="22" name="Shape 20"/>
          <p:cNvSpPr/>
          <p:nvPr/>
        </p:nvSpPr>
        <p:spPr>
          <a:xfrm>
            <a:off x="548640" y="3520440"/>
            <a:ext cx="457200" cy="548640"/>
          </a:xfrm>
          <a:prstGeom prst="rect">
            <a:avLst>
              <a:gd name="adj" fmla="val 10000"/>
            </a:avLst>
          </a:prstGeom>
          <a:solidFill>
            <a:srgbClr val="580000"/>
          </a:solidFill>
          <a:ln/>
        </p:spPr>
      </p:sp>
      <p:sp>
        <p:nvSpPr>
          <p:cNvPr id="23" name="Text 21"/>
          <p:cNvSpPr/>
          <p:nvPr/>
        </p:nvSpPr>
        <p:spPr>
          <a:xfrm>
            <a:off x="548640" y="3520440"/>
            <a:ext cx="457200" cy="548640"/>
          </a:xfrm>
          <a:prstGeom prst="rect">
            <a:avLst/>
          </a:prstGeom>
          <a:noFill/>
          <a:ln/>
        </p:spPr>
        <p:txBody>
          <a:bodyPr wrap="square" rtlCol="0" anchor="ctr"/>
          <a:lstStyle/>
          <a:p>
            <a:pPr algn="ctr" indent="0" marL="0">
              <a:buNone/>
            </a:pPr>
            <a:r>
              <a:rPr lang="en-US" sz="1800" b="1" dirty="0">
                <a:solidFill>
                  <a:srgbClr val="AD0000"/>
                </a:solidFill>
                <a:latin typeface="Noto Sans JP" pitchFamily="34" charset="0"/>
                <a:ea typeface="Noto Sans JP" pitchFamily="34" charset="-122"/>
                <a:cs typeface="Noto Sans JP" pitchFamily="34" charset="-120"/>
              </a:rPr>
              <a:t>4</a:t>
            </a:r>
            <a:endParaRPr lang="en-US" sz="1800" dirty="0"/>
          </a:p>
        </p:txBody>
      </p:sp>
      <p:sp>
        <p:nvSpPr>
          <p:cNvPr id="24" name="Shape 22"/>
          <p:cNvSpPr/>
          <p:nvPr/>
        </p:nvSpPr>
        <p:spPr>
          <a:xfrm>
            <a:off x="1188720" y="3520440"/>
            <a:ext cx="7406640" cy="548640"/>
          </a:xfrm>
          <a:prstGeom prst="rect">
            <a:avLst>
              <a:gd name="adj" fmla="val 8333"/>
            </a:avLst>
          </a:prstGeom>
          <a:solidFill>
            <a:srgbClr val="F5F5F5"/>
          </a:solidFill>
          <a:ln/>
        </p:spPr>
      </p:sp>
      <p:sp>
        <p:nvSpPr>
          <p:cNvPr id="25" name="Text 23"/>
          <p:cNvSpPr/>
          <p:nvPr/>
        </p:nvSpPr>
        <p:spPr>
          <a:xfrm>
            <a:off x="1371600" y="3520440"/>
            <a:ext cx="2743200" cy="548640"/>
          </a:xfrm>
          <a:prstGeom prst="rect">
            <a:avLst/>
          </a:prstGeom>
          <a:noFill/>
          <a:ln/>
        </p:spPr>
        <p:txBody>
          <a:bodyPr wrap="square" rtlCol="0" anchor="ctr"/>
          <a:lstStyle/>
          <a:p>
            <a:pPr indent="0" marL="0">
              <a:buNone/>
            </a:pPr>
            <a:r>
              <a:rPr lang="en-US" sz="1600" b="1" dirty="0">
                <a:solidFill>
                  <a:srgbClr val="1A1A1A"/>
                </a:solidFill>
                <a:latin typeface="Noto Sans JP" pitchFamily="34" charset="0"/>
                <a:ea typeface="Noto Sans JP" pitchFamily="34" charset="-122"/>
                <a:cs typeface="Noto Sans JP" pitchFamily="34" charset="-120"/>
              </a:rPr>
              <a:t>スマート農業・DXの推進</a:t>
            </a:r>
            <a:endParaRPr lang="en-US" sz="1600" dirty="0"/>
          </a:p>
        </p:txBody>
      </p:sp>
      <p:sp>
        <p:nvSpPr>
          <p:cNvPr id="26" name="Text 24"/>
          <p:cNvSpPr/>
          <p:nvPr/>
        </p:nvSpPr>
        <p:spPr>
          <a:xfrm>
            <a:off x="4114800" y="3520440"/>
            <a:ext cx="4297680" cy="54864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スマート農業技術導入の補助事業活用、eMAFF地図・農地ナビによる農地情報管理のデジタル化推進</a:t>
            </a:r>
            <a:endParaRPr lang="en-US" sz="1600" dirty="0"/>
          </a:p>
        </p:txBody>
      </p:sp>
      <p:sp>
        <p:nvSpPr>
          <p:cNvPr id="27" name="Text 25"/>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6B6B6B"/>
                </a:solidFill>
                <a:latin typeface="Noto Sans JP" pitchFamily="34" charset="0"/>
                <a:ea typeface="Noto Sans JP" pitchFamily="34" charset="-122"/>
                <a:cs typeface="Noto Sans JP" pitchFamily="34" charset="-120"/>
              </a:rPr>
              <a:t>出所: 農林水産省 令和8年度予算概算決定の概要</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AD0000"/>
          </a:solidFill>
          <a:ln/>
        </p:spPr>
      </p:sp>
      <p:sp>
        <p:nvSpPr>
          <p:cNvPr id="3" name="Text 1"/>
          <p:cNvSpPr/>
          <p:nvPr/>
        </p:nvSpPr>
        <p:spPr>
          <a:xfrm>
            <a:off x="548640" y="0"/>
            <a:ext cx="8046720" cy="731520"/>
          </a:xfrm>
          <a:prstGeom prst="rect">
            <a:avLst/>
          </a:prstGeom>
          <a:noFill/>
          <a:ln/>
        </p:spPr>
        <p:txBody>
          <a:bodyPr wrap="square" rtlCol="0" anchor="ctr"/>
          <a:lstStyle/>
          <a:p>
            <a:pPr indent="0" marL="0">
              <a:buNone/>
            </a:pPr>
            <a:r>
              <a:rPr lang="en-US" sz="2400" b="1" dirty="0">
                <a:solidFill>
                  <a:srgbClr val="FFFFFF"/>
                </a:solidFill>
                <a:latin typeface="Noto Sans JP" pitchFamily="34" charset="0"/>
                <a:ea typeface="Noto Sans JP" pitchFamily="34" charset="-122"/>
                <a:cs typeface="Noto Sans JP" pitchFamily="34" charset="-120"/>
              </a:rPr>
              <a:t>CONCLUSION</a:t>
            </a:r>
            <a:endParaRPr lang="en-US" sz="2400" dirty="0"/>
          </a:p>
        </p:txBody>
      </p:sp>
      <p:sp>
        <p:nvSpPr>
          <p:cNvPr id="4" name="Shape 2"/>
          <p:cNvSpPr/>
          <p:nvPr/>
        </p:nvSpPr>
        <p:spPr>
          <a:xfrm>
            <a:off x="548640" y="1097280"/>
            <a:ext cx="8046720" cy="914400"/>
          </a:xfrm>
          <a:prstGeom prst="rect">
            <a:avLst>
              <a:gd name="adj" fmla="val 10000"/>
            </a:avLst>
          </a:prstGeom>
          <a:solidFill>
            <a:srgbClr val="AD0000"/>
          </a:solidFill>
          <a:ln/>
        </p:spPr>
      </p:sp>
      <p:sp>
        <p:nvSpPr>
          <p:cNvPr id="5" name="Text 3"/>
          <p:cNvSpPr/>
          <p:nvPr/>
        </p:nvSpPr>
        <p:spPr>
          <a:xfrm>
            <a:off x="731520" y="1097280"/>
            <a:ext cx="7680960" cy="914400"/>
          </a:xfrm>
          <a:prstGeom prst="rect">
            <a:avLst/>
          </a:prstGeom>
          <a:noFill/>
          <a:ln/>
        </p:spPr>
        <p:txBody>
          <a:bodyPr wrap="square"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令和8年度は「構造転換」と「国土強靭化」の両輪で農業農村整備を加速。水田政策の転換期を見据えた早期対応が求められる。</a:t>
            </a:r>
            <a:endParaRPr lang="en-US" sz="2000" dirty="0"/>
          </a:p>
        </p:txBody>
      </p:sp>
      <p:sp>
        <p:nvSpPr>
          <p:cNvPr id="6" name="Text 4"/>
          <p:cNvSpPr/>
          <p:nvPr/>
        </p:nvSpPr>
        <p:spPr>
          <a:xfrm>
            <a:off x="548640" y="2377440"/>
            <a:ext cx="8046720" cy="457200"/>
          </a:xfrm>
          <a:prstGeom prst="rect">
            <a:avLst/>
          </a:prstGeom>
          <a:noFill/>
          <a:ln/>
        </p:spPr>
        <p:txBody>
          <a:bodyPr wrap="square" rtlCol="0" anchor="ctr"/>
          <a:lstStyle/>
          <a:p>
            <a:pPr indent="0" marL="0">
              <a:buNone/>
            </a:pPr>
            <a:r>
              <a:rPr lang="en-US" sz="1800" b="1" dirty="0">
                <a:solidFill>
                  <a:srgbClr val="1A1A1A"/>
                </a:solidFill>
                <a:latin typeface="Noto Sans JP" pitchFamily="34" charset="0"/>
                <a:ea typeface="Noto Sans JP" pitchFamily="34" charset="-122"/>
                <a:cs typeface="Noto Sans JP" pitchFamily="34" charset="-120"/>
              </a:rPr>
              <a:t>Next Steps</a:t>
            </a:r>
            <a:endParaRPr lang="en-US" sz="1800" dirty="0"/>
          </a:p>
        </p:txBody>
      </p:sp>
      <p:sp>
        <p:nvSpPr>
          <p:cNvPr id="7" name="Shape 5"/>
          <p:cNvSpPr/>
          <p:nvPr/>
        </p:nvSpPr>
        <p:spPr>
          <a:xfrm>
            <a:off x="548640" y="2926080"/>
            <a:ext cx="365760" cy="365760"/>
          </a:xfrm>
          <a:prstGeom prst="rect">
            <a:avLst>
              <a:gd name="adj" fmla="val 12500"/>
            </a:avLst>
          </a:prstGeom>
          <a:solidFill>
            <a:srgbClr val="580000"/>
          </a:solidFill>
          <a:ln/>
        </p:spPr>
      </p:sp>
      <p:sp>
        <p:nvSpPr>
          <p:cNvPr id="8" name="Text 6"/>
          <p:cNvSpPr/>
          <p:nvPr/>
        </p:nvSpPr>
        <p:spPr>
          <a:xfrm>
            <a:off x="548640" y="2926080"/>
            <a:ext cx="365760" cy="365760"/>
          </a:xfrm>
          <a:prstGeom prst="rect">
            <a:avLst/>
          </a:prstGeom>
          <a:noFill/>
          <a:ln/>
        </p:spPr>
        <p:txBody>
          <a:bodyPr wrap="square" rtlCol="0" anchor="ctr"/>
          <a:lstStyle/>
          <a:p>
            <a:pPr algn="ctr" indent="0" marL="0">
              <a:buNone/>
            </a:pPr>
            <a:r>
              <a:rPr lang="en-US" sz="1600" b="1" dirty="0">
                <a:solidFill>
                  <a:srgbClr val="AD0000"/>
                </a:solidFill>
                <a:latin typeface="Noto Sans JP" pitchFamily="34" charset="0"/>
                <a:ea typeface="Noto Sans JP" pitchFamily="34" charset="-122"/>
                <a:cs typeface="Noto Sans JP" pitchFamily="34" charset="-120"/>
              </a:rPr>
              <a:t>1</a:t>
            </a:r>
            <a:endParaRPr lang="en-US" sz="1600" dirty="0"/>
          </a:p>
        </p:txBody>
      </p:sp>
      <p:sp>
        <p:nvSpPr>
          <p:cNvPr id="9" name="Text 7"/>
          <p:cNvSpPr/>
          <p:nvPr/>
        </p:nvSpPr>
        <p:spPr>
          <a:xfrm>
            <a:off x="1097280" y="2926080"/>
            <a:ext cx="7498080" cy="36576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構造転換集中対策（494億円）の事業要望を早期に取りまとめ</a:t>
            </a:r>
            <a:endParaRPr lang="en-US" sz="1600" dirty="0"/>
          </a:p>
        </p:txBody>
      </p:sp>
      <p:sp>
        <p:nvSpPr>
          <p:cNvPr id="10" name="Shape 8"/>
          <p:cNvSpPr/>
          <p:nvPr/>
        </p:nvSpPr>
        <p:spPr>
          <a:xfrm>
            <a:off x="548640" y="3429000"/>
            <a:ext cx="365760" cy="365760"/>
          </a:xfrm>
          <a:prstGeom prst="rect">
            <a:avLst>
              <a:gd name="adj" fmla="val 12500"/>
            </a:avLst>
          </a:prstGeom>
          <a:solidFill>
            <a:srgbClr val="580000"/>
          </a:solidFill>
          <a:ln/>
        </p:spPr>
      </p:sp>
      <p:sp>
        <p:nvSpPr>
          <p:cNvPr id="11" name="Text 9"/>
          <p:cNvSpPr/>
          <p:nvPr/>
        </p:nvSpPr>
        <p:spPr>
          <a:xfrm>
            <a:off x="548640" y="3429000"/>
            <a:ext cx="365760" cy="365760"/>
          </a:xfrm>
          <a:prstGeom prst="rect">
            <a:avLst/>
          </a:prstGeom>
          <a:noFill/>
          <a:ln/>
        </p:spPr>
        <p:txBody>
          <a:bodyPr wrap="square" rtlCol="0" anchor="ctr"/>
          <a:lstStyle/>
          <a:p>
            <a:pPr algn="ctr" indent="0" marL="0">
              <a:buNone/>
            </a:pPr>
            <a:r>
              <a:rPr lang="en-US" sz="1600" b="1" dirty="0">
                <a:solidFill>
                  <a:srgbClr val="AD0000"/>
                </a:solidFill>
                <a:latin typeface="Noto Sans JP" pitchFamily="34" charset="0"/>
                <a:ea typeface="Noto Sans JP" pitchFamily="34" charset="-122"/>
                <a:cs typeface="Noto Sans JP" pitchFamily="34" charset="-120"/>
              </a:rPr>
              <a:t>2</a:t>
            </a:r>
            <a:endParaRPr lang="en-US" sz="1600" dirty="0"/>
          </a:p>
        </p:txBody>
      </p:sp>
      <p:sp>
        <p:nvSpPr>
          <p:cNvPr id="12" name="Text 10"/>
          <p:cNvSpPr/>
          <p:nvPr/>
        </p:nvSpPr>
        <p:spPr>
          <a:xfrm>
            <a:off x="1097280" y="3429000"/>
            <a:ext cx="7498080" cy="36576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国土強靭化中期計画に基づく施設更新・防災対策の計画策定</a:t>
            </a:r>
            <a:endParaRPr lang="en-US" sz="1600" dirty="0"/>
          </a:p>
        </p:txBody>
      </p:sp>
      <p:sp>
        <p:nvSpPr>
          <p:cNvPr id="13" name="Shape 11"/>
          <p:cNvSpPr/>
          <p:nvPr/>
        </p:nvSpPr>
        <p:spPr>
          <a:xfrm>
            <a:off x="548640" y="3931920"/>
            <a:ext cx="365760" cy="365760"/>
          </a:xfrm>
          <a:prstGeom prst="rect">
            <a:avLst>
              <a:gd name="adj" fmla="val 12500"/>
            </a:avLst>
          </a:prstGeom>
          <a:solidFill>
            <a:srgbClr val="580000"/>
          </a:solidFill>
          <a:ln/>
        </p:spPr>
      </p:sp>
      <p:sp>
        <p:nvSpPr>
          <p:cNvPr id="14" name="Text 12"/>
          <p:cNvSpPr/>
          <p:nvPr/>
        </p:nvSpPr>
        <p:spPr>
          <a:xfrm>
            <a:off x="548640" y="3931920"/>
            <a:ext cx="365760" cy="365760"/>
          </a:xfrm>
          <a:prstGeom prst="rect">
            <a:avLst/>
          </a:prstGeom>
          <a:noFill/>
          <a:ln/>
        </p:spPr>
        <p:txBody>
          <a:bodyPr wrap="square" rtlCol="0" anchor="ctr"/>
          <a:lstStyle/>
          <a:p>
            <a:pPr algn="ctr" indent="0" marL="0">
              <a:buNone/>
            </a:pPr>
            <a:r>
              <a:rPr lang="en-US" sz="1600" b="1" dirty="0">
                <a:solidFill>
                  <a:srgbClr val="AD0000"/>
                </a:solidFill>
                <a:latin typeface="Noto Sans JP" pitchFamily="34" charset="0"/>
                <a:ea typeface="Noto Sans JP" pitchFamily="34" charset="-122"/>
                <a:cs typeface="Noto Sans JP" pitchFamily="34" charset="-120"/>
              </a:rPr>
              <a:t>3</a:t>
            </a:r>
            <a:endParaRPr lang="en-US" sz="1600" dirty="0"/>
          </a:p>
        </p:txBody>
      </p:sp>
      <p:sp>
        <p:nvSpPr>
          <p:cNvPr id="15" name="Text 13"/>
          <p:cNvSpPr/>
          <p:nvPr/>
        </p:nvSpPr>
        <p:spPr>
          <a:xfrm>
            <a:off x="1097280" y="3931920"/>
            <a:ext cx="7498080" cy="36576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令和9年度水田政策見直しの影響分析と地域農業ビジョンの検討</a:t>
            </a:r>
            <a:endParaRPr lang="en-US" sz="1600" dirty="0"/>
          </a:p>
        </p:txBody>
      </p:sp>
      <p:sp>
        <p:nvSpPr>
          <p:cNvPr id="16" name="Shape 14"/>
          <p:cNvSpPr/>
          <p:nvPr/>
        </p:nvSpPr>
        <p:spPr>
          <a:xfrm>
            <a:off x="548640" y="4434840"/>
            <a:ext cx="365760" cy="365760"/>
          </a:xfrm>
          <a:prstGeom prst="rect">
            <a:avLst>
              <a:gd name="adj" fmla="val 12500"/>
            </a:avLst>
          </a:prstGeom>
          <a:solidFill>
            <a:srgbClr val="580000"/>
          </a:solidFill>
          <a:ln/>
        </p:spPr>
      </p:sp>
      <p:sp>
        <p:nvSpPr>
          <p:cNvPr id="17" name="Text 15"/>
          <p:cNvSpPr/>
          <p:nvPr/>
        </p:nvSpPr>
        <p:spPr>
          <a:xfrm>
            <a:off x="548640" y="4434840"/>
            <a:ext cx="365760" cy="365760"/>
          </a:xfrm>
          <a:prstGeom prst="rect">
            <a:avLst/>
          </a:prstGeom>
          <a:noFill/>
          <a:ln/>
        </p:spPr>
        <p:txBody>
          <a:bodyPr wrap="square" rtlCol="0" anchor="ctr"/>
          <a:lstStyle/>
          <a:p>
            <a:pPr algn="ctr" indent="0" marL="0">
              <a:buNone/>
            </a:pPr>
            <a:r>
              <a:rPr lang="en-US" sz="1600" b="1" dirty="0">
                <a:solidFill>
                  <a:srgbClr val="AD0000"/>
                </a:solidFill>
                <a:latin typeface="Noto Sans JP" pitchFamily="34" charset="0"/>
                <a:ea typeface="Noto Sans JP" pitchFamily="34" charset="-122"/>
                <a:cs typeface="Noto Sans JP" pitchFamily="34" charset="-120"/>
              </a:rPr>
              <a:t>4</a:t>
            </a:r>
            <a:endParaRPr lang="en-US" sz="1600" dirty="0"/>
          </a:p>
        </p:txBody>
      </p:sp>
      <p:sp>
        <p:nvSpPr>
          <p:cNvPr id="18" name="Text 16"/>
          <p:cNvSpPr/>
          <p:nvPr/>
        </p:nvSpPr>
        <p:spPr>
          <a:xfrm>
            <a:off x="1097280" y="4434840"/>
            <a:ext cx="7498080" cy="365760"/>
          </a:xfrm>
          <a:prstGeom prst="rect">
            <a:avLst/>
          </a:prstGeom>
          <a:noFill/>
          <a:ln/>
        </p:spPr>
        <p:txBody>
          <a:bodyPr wrap="square" rtlCol="0" anchor="ctr"/>
          <a:lstStyle/>
          <a:p>
            <a:pPr indent="0" marL="0">
              <a:buNone/>
            </a:pPr>
            <a:r>
              <a:rPr lang="en-US" sz="1600" dirty="0">
                <a:solidFill>
                  <a:srgbClr val="4A4A4A"/>
                </a:solidFill>
                <a:latin typeface="Noto Sans JP" pitchFamily="34" charset="0"/>
                <a:ea typeface="Noto Sans JP" pitchFamily="34" charset="-122"/>
                <a:cs typeface="Noto Sans JP" pitchFamily="34" charset="-120"/>
              </a:rPr>
              <a:t>スマート農業・DX推進に向けた補助事業の活用検討</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令和8年度 農業農村整備予算のポイント</dc:title>
  <dc:subject>PptxGenJS Presentation</dc:subject>
  <dc:creator>農林水産省 農村振興局</dc:creator>
  <cp:lastModifiedBy>農林水産省 農村振興局</cp:lastModifiedBy>
  <cp:revision>1</cp:revision>
  <dcterms:created xsi:type="dcterms:W3CDTF">2026-03-06T21:40:12Z</dcterms:created>
  <dcterms:modified xsi:type="dcterms:W3CDTF">2026-03-06T21:40:12Z</dcterms:modified>
</cp:coreProperties>
</file>